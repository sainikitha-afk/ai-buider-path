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T Hoves Bold" charset="1" panose="02000003020000060003"/>
      <p:regular r:id="rId17"/>
    </p:embeddedFont>
    <p:embeddedFont>
      <p:font typeface="TT Hoves" charset="1" panose="02000003020000060003"/>
      <p:regular r:id="rId18"/>
    </p:embeddedFont>
    <p:embeddedFont>
      <p:font typeface="Canva Sans Bold" charset="1" panose="020B0803030501040103"/>
      <p:regular r:id="rId19"/>
    </p:embeddedFont>
    <p:embeddedFont>
      <p:font typeface="Cloud" charset="1" panose="02000000000000000000"/>
      <p:regular r:id="rId20"/>
    </p:embeddedFont>
    <p:embeddedFont>
      <p:font typeface="Canva Sans" charset="1" panose="020B0503030501040103"/>
      <p:regular r:id="rId21"/>
    </p:embeddedFont>
    <p:embeddedFont>
      <p:font typeface="Cloud Lucent Bold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27.png" Type="http://schemas.openxmlformats.org/officeDocument/2006/relationships/image"/><Relationship Id="rId15" Target="../media/image28.svg" Type="http://schemas.openxmlformats.org/officeDocument/2006/relationships/image"/><Relationship Id="rId16" Target="../media/image29.png" Type="http://schemas.openxmlformats.org/officeDocument/2006/relationships/image"/><Relationship Id="rId17" Target="../media/image30.svg" Type="http://schemas.openxmlformats.org/officeDocument/2006/relationships/image"/><Relationship Id="rId18" Target="../media/image31.png" Type="http://schemas.openxmlformats.org/officeDocument/2006/relationships/image"/><Relationship Id="rId19" Target="../media/image32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12" Target="../media/image43.png" Type="http://schemas.openxmlformats.org/officeDocument/2006/relationships/image"/><Relationship Id="rId13" Target="../media/image44.sv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svg" Type="http://schemas.openxmlformats.org/officeDocument/2006/relationships/image"/><Relationship Id="rId12" Target="../media/image55.png" Type="http://schemas.openxmlformats.org/officeDocument/2006/relationships/image"/><Relationship Id="rId13" Target="../media/image56.svg" Type="http://schemas.openxmlformats.org/officeDocument/2006/relationships/image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51.png" Type="http://schemas.openxmlformats.org/officeDocument/2006/relationships/image"/><Relationship Id="rId9" Target="../media/image5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svg" Type="http://schemas.openxmlformats.org/officeDocument/2006/relationships/image"/><Relationship Id="rId11" Target="../media/image64.png" Type="http://schemas.openxmlformats.org/officeDocument/2006/relationships/image"/><Relationship Id="rId12" Target="../media/image65.svg" Type="http://schemas.openxmlformats.org/officeDocument/2006/relationships/image"/><Relationship Id="rId2" Target="../media/image57.png" Type="http://schemas.openxmlformats.org/officeDocument/2006/relationships/image"/><Relationship Id="rId3" Target="../media/image58.svg" Type="http://schemas.openxmlformats.org/officeDocument/2006/relationships/image"/><Relationship Id="rId4" Target="../media/image59.png" Type="http://schemas.openxmlformats.org/officeDocument/2006/relationships/image"/><Relationship Id="rId5" Target="../media/image60.png" Type="http://schemas.openxmlformats.org/officeDocument/2006/relationships/image"/><Relationship Id="rId6" Target="../media/image61.png" Type="http://schemas.openxmlformats.org/officeDocument/2006/relationships/image"/><Relationship Id="rId7" Target="../media/image62.png" Type="http://schemas.openxmlformats.org/officeDocument/2006/relationships/image"/><Relationship Id="rId8" Target="../media/image63.sv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6.png" Type="http://schemas.openxmlformats.org/officeDocument/2006/relationships/image"/><Relationship Id="rId3" Target="../media/image67.png" Type="http://schemas.openxmlformats.org/officeDocument/2006/relationships/image"/><Relationship Id="rId4" Target="../media/image6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0C2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581827"/>
            <a:ext cx="16230600" cy="156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72"/>
              </a:lnSpc>
            </a:pPr>
            <a:r>
              <a:rPr lang="en-US" b="true" sz="9123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Workflow vs AI Agent Design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58640" y="5629426"/>
            <a:ext cx="12252317" cy="3628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9"/>
              </a:lnSpc>
            </a:pPr>
            <a:r>
              <a:rPr lang="en-US" sz="517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Und</a:t>
            </a:r>
            <a:r>
              <a:rPr lang="en-US" sz="517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erstanding Fixed Processes vs Intelligent Systems</a:t>
            </a:r>
          </a:p>
          <a:p>
            <a:pPr algn="ctr">
              <a:lnSpc>
                <a:spcPts val="7239"/>
              </a:lnSpc>
            </a:pPr>
          </a:p>
          <a:p>
            <a:pPr algn="ctr">
              <a:lnSpc>
                <a:spcPts val="723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1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3282" y="895350"/>
            <a:ext cx="17443013" cy="9417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23"/>
              </a:lnSpc>
            </a:pPr>
            <a:r>
              <a:rPr lang="en-US" sz="6445" b="true">
                <a:solidFill>
                  <a:srgbClr val="0042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Process Chosen:</a:t>
            </a:r>
          </a:p>
          <a:p>
            <a:pPr algn="l">
              <a:lnSpc>
                <a:spcPts val="9023"/>
              </a:lnSpc>
            </a:pPr>
          </a:p>
          <a:p>
            <a:pPr algn="l">
              <a:lnSpc>
                <a:spcPts val="6817"/>
              </a:lnSpc>
            </a:pPr>
            <a:r>
              <a:rPr lang="en-US" sz="4869" b="true">
                <a:solidFill>
                  <a:srgbClr val="016D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</a:t>
            </a:r>
            <a:r>
              <a:rPr lang="en-US" sz="4869" b="true">
                <a:solidFill>
                  <a:srgbClr val="016D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</a:t>
            </a:r>
            <a:r>
              <a:rPr lang="en-US" sz="4869" b="true">
                <a:solidFill>
                  <a:srgbClr val="016D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dling Customer Support Queries in a SaaS System</a:t>
            </a:r>
          </a:p>
          <a:p>
            <a:pPr algn="l">
              <a:lnSpc>
                <a:spcPts val="6817"/>
              </a:lnSpc>
            </a:pPr>
          </a:p>
          <a:p>
            <a:pPr algn="l">
              <a:lnSpc>
                <a:spcPts val="6817"/>
              </a:lnSpc>
            </a:pPr>
            <a:r>
              <a:rPr lang="en-US" sz="4869" b="true">
                <a:solidFill>
                  <a:srgbClr val="0042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Goal:</a:t>
            </a:r>
          </a:p>
          <a:p>
            <a:pPr algn="l">
              <a:lnSpc>
                <a:spcPts val="6817"/>
              </a:lnSpc>
            </a:pPr>
          </a:p>
          <a:p>
            <a:pPr algn="l" marL="1051361" indent="-525681" lvl="1">
              <a:lnSpc>
                <a:spcPts val="6817"/>
              </a:lnSpc>
              <a:buFont typeface="Arial"/>
              <a:buChar char="•"/>
            </a:pPr>
            <a:r>
              <a:rPr lang="en-US" b="true" sz="4869">
                <a:solidFill>
                  <a:srgbClr val="016D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Classify user queries</a:t>
            </a:r>
          </a:p>
          <a:p>
            <a:pPr algn="ctr" marL="1051361" indent="-525681" lvl="1">
              <a:lnSpc>
                <a:spcPts val="6817"/>
              </a:lnSpc>
              <a:buFont typeface="Arial"/>
              <a:buChar char="•"/>
            </a:pPr>
            <a:r>
              <a:rPr lang="en-US" b="true" sz="4869">
                <a:solidFill>
                  <a:srgbClr val="016D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Provide appropriate response or route to correct team</a:t>
            </a:r>
          </a:p>
          <a:p>
            <a:pPr algn="ctr">
              <a:lnSpc>
                <a:spcPts val="16442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9064" y="865480"/>
            <a:ext cx="8534270" cy="8708439"/>
          </a:xfrm>
          <a:custGeom>
            <a:avLst/>
            <a:gdLst/>
            <a:ahLst/>
            <a:cxnLst/>
            <a:rect r="r" b="b" t="t" l="l"/>
            <a:pathLst>
              <a:path h="8708439" w="8534270">
                <a:moveTo>
                  <a:pt x="0" y="0"/>
                </a:moveTo>
                <a:lnTo>
                  <a:pt x="8534271" y="0"/>
                </a:lnTo>
                <a:lnTo>
                  <a:pt x="8534271" y="8708440"/>
                </a:lnTo>
                <a:lnTo>
                  <a:pt x="0" y="87084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418386" y="920742"/>
            <a:ext cx="3254725" cy="2688172"/>
            <a:chOff x="0" y="0"/>
            <a:chExt cx="857212" cy="7079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7212" cy="707996"/>
            </a:xfrm>
            <a:custGeom>
              <a:avLst/>
              <a:gdLst/>
              <a:ahLst/>
              <a:cxnLst/>
              <a:rect r="r" b="b" t="t" l="l"/>
              <a:pathLst>
                <a:path h="707996" w="857212">
                  <a:moveTo>
                    <a:pt x="59467" y="0"/>
                  </a:moveTo>
                  <a:lnTo>
                    <a:pt x="797745" y="0"/>
                  </a:lnTo>
                  <a:cubicBezTo>
                    <a:pt x="813516" y="0"/>
                    <a:pt x="828642" y="6265"/>
                    <a:pt x="839794" y="17417"/>
                  </a:cubicBezTo>
                  <a:cubicBezTo>
                    <a:pt x="850946" y="28570"/>
                    <a:pt x="857212" y="43695"/>
                    <a:pt x="857212" y="59467"/>
                  </a:cubicBezTo>
                  <a:lnTo>
                    <a:pt x="857212" y="648529"/>
                  </a:lnTo>
                  <a:cubicBezTo>
                    <a:pt x="857212" y="664301"/>
                    <a:pt x="850946" y="679426"/>
                    <a:pt x="839794" y="690579"/>
                  </a:cubicBezTo>
                  <a:cubicBezTo>
                    <a:pt x="828642" y="701731"/>
                    <a:pt x="813516" y="707996"/>
                    <a:pt x="797745" y="707996"/>
                  </a:cubicBezTo>
                  <a:lnTo>
                    <a:pt x="59467" y="707996"/>
                  </a:lnTo>
                  <a:cubicBezTo>
                    <a:pt x="43695" y="707996"/>
                    <a:pt x="28570" y="701731"/>
                    <a:pt x="17417" y="690579"/>
                  </a:cubicBezTo>
                  <a:cubicBezTo>
                    <a:pt x="6265" y="679426"/>
                    <a:pt x="0" y="664301"/>
                    <a:pt x="0" y="648529"/>
                  </a:cubicBezTo>
                  <a:lnTo>
                    <a:pt x="0" y="59467"/>
                  </a:lnTo>
                  <a:cubicBezTo>
                    <a:pt x="0" y="43695"/>
                    <a:pt x="6265" y="28570"/>
                    <a:pt x="17417" y="17417"/>
                  </a:cubicBezTo>
                  <a:cubicBezTo>
                    <a:pt x="28570" y="6265"/>
                    <a:pt x="43695" y="0"/>
                    <a:pt x="59467" y="0"/>
                  </a:cubicBezTo>
                  <a:close/>
                </a:path>
              </a:pathLst>
            </a:custGeom>
            <a:solidFill>
              <a:srgbClr val="3FDF8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857212" cy="72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418386" y="3875614"/>
            <a:ext cx="3254725" cy="2688172"/>
            <a:chOff x="0" y="0"/>
            <a:chExt cx="857212" cy="7079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57212" cy="707996"/>
            </a:xfrm>
            <a:custGeom>
              <a:avLst/>
              <a:gdLst/>
              <a:ahLst/>
              <a:cxnLst/>
              <a:rect r="r" b="b" t="t" l="l"/>
              <a:pathLst>
                <a:path h="707996" w="857212">
                  <a:moveTo>
                    <a:pt x="59467" y="0"/>
                  </a:moveTo>
                  <a:lnTo>
                    <a:pt x="797745" y="0"/>
                  </a:lnTo>
                  <a:cubicBezTo>
                    <a:pt x="813516" y="0"/>
                    <a:pt x="828642" y="6265"/>
                    <a:pt x="839794" y="17417"/>
                  </a:cubicBezTo>
                  <a:cubicBezTo>
                    <a:pt x="850946" y="28570"/>
                    <a:pt x="857212" y="43695"/>
                    <a:pt x="857212" y="59467"/>
                  </a:cubicBezTo>
                  <a:lnTo>
                    <a:pt x="857212" y="648529"/>
                  </a:lnTo>
                  <a:cubicBezTo>
                    <a:pt x="857212" y="664301"/>
                    <a:pt x="850946" y="679426"/>
                    <a:pt x="839794" y="690579"/>
                  </a:cubicBezTo>
                  <a:cubicBezTo>
                    <a:pt x="828642" y="701731"/>
                    <a:pt x="813516" y="707996"/>
                    <a:pt x="797745" y="707996"/>
                  </a:cubicBezTo>
                  <a:lnTo>
                    <a:pt x="59467" y="707996"/>
                  </a:lnTo>
                  <a:cubicBezTo>
                    <a:pt x="43695" y="707996"/>
                    <a:pt x="28570" y="701731"/>
                    <a:pt x="17417" y="690579"/>
                  </a:cubicBezTo>
                  <a:cubicBezTo>
                    <a:pt x="6265" y="679426"/>
                    <a:pt x="0" y="664301"/>
                    <a:pt x="0" y="648529"/>
                  </a:cubicBezTo>
                  <a:lnTo>
                    <a:pt x="0" y="59467"/>
                  </a:lnTo>
                  <a:cubicBezTo>
                    <a:pt x="0" y="43695"/>
                    <a:pt x="6265" y="28570"/>
                    <a:pt x="17417" y="17417"/>
                  </a:cubicBezTo>
                  <a:cubicBezTo>
                    <a:pt x="28570" y="6265"/>
                    <a:pt x="43695" y="0"/>
                    <a:pt x="59467" y="0"/>
                  </a:cubicBezTo>
                  <a:close/>
                </a:path>
              </a:pathLst>
            </a:custGeom>
            <a:solidFill>
              <a:srgbClr val="3FDF8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857212" cy="72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295034" y="1056773"/>
            <a:ext cx="2402157" cy="925922"/>
          </a:xfrm>
          <a:custGeom>
            <a:avLst/>
            <a:gdLst/>
            <a:ahLst/>
            <a:cxnLst/>
            <a:rect r="r" b="b" t="t" l="l"/>
            <a:pathLst>
              <a:path h="925922" w="2402157">
                <a:moveTo>
                  <a:pt x="0" y="0"/>
                </a:moveTo>
                <a:lnTo>
                  <a:pt x="2402157" y="0"/>
                </a:lnTo>
                <a:lnTo>
                  <a:pt x="2402157" y="925922"/>
                </a:lnTo>
                <a:lnTo>
                  <a:pt x="0" y="925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295034" y="4011645"/>
            <a:ext cx="2402157" cy="925922"/>
          </a:xfrm>
          <a:custGeom>
            <a:avLst/>
            <a:gdLst/>
            <a:ahLst/>
            <a:cxnLst/>
            <a:rect r="r" b="b" t="t" l="l"/>
            <a:pathLst>
              <a:path h="925922" w="2402157">
                <a:moveTo>
                  <a:pt x="0" y="0"/>
                </a:moveTo>
                <a:lnTo>
                  <a:pt x="2402157" y="0"/>
                </a:lnTo>
                <a:lnTo>
                  <a:pt x="2402157" y="925922"/>
                </a:lnTo>
                <a:lnTo>
                  <a:pt x="0" y="925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418386" y="6830486"/>
            <a:ext cx="3254725" cy="2688172"/>
            <a:chOff x="0" y="0"/>
            <a:chExt cx="857212" cy="7079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57212" cy="707996"/>
            </a:xfrm>
            <a:custGeom>
              <a:avLst/>
              <a:gdLst/>
              <a:ahLst/>
              <a:cxnLst/>
              <a:rect r="r" b="b" t="t" l="l"/>
              <a:pathLst>
                <a:path h="707996" w="857212">
                  <a:moveTo>
                    <a:pt x="59467" y="0"/>
                  </a:moveTo>
                  <a:lnTo>
                    <a:pt x="797745" y="0"/>
                  </a:lnTo>
                  <a:cubicBezTo>
                    <a:pt x="813516" y="0"/>
                    <a:pt x="828642" y="6265"/>
                    <a:pt x="839794" y="17417"/>
                  </a:cubicBezTo>
                  <a:cubicBezTo>
                    <a:pt x="850946" y="28570"/>
                    <a:pt x="857212" y="43695"/>
                    <a:pt x="857212" y="59467"/>
                  </a:cubicBezTo>
                  <a:lnTo>
                    <a:pt x="857212" y="648529"/>
                  </a:lnTo>
                  <a:cubicBezTo>
                    <a:pt x="857212" y="664301"/>
                    <a:pt x="850946" y="679426"/>
                    <a:pt x="839794" y="690579"/>
                  </a:cubicBezTo>
                  <a:cubicBezTo>
                    <a:pt x="828642" y="701731"/>
                    <a:pt x="813516" y="707996"/>
                    <a:pt x="797745" y="707996"/>
                  </a:cubicBezTo>
                  <a:lnTo>
                    <a:pt x="59467" y="707996"/>
                  </a:lnTo>
                  <a:cubicBezTo>
                    <a:pt x="43695" y="707996"/>
                    <a:pt x="28570" y="701731"/>
                    <a:pt x="17417" y="690579"/>
                  </a:cubicBezTo>
                  <a:cubicBezTo>
                    <a:pt x="6265" y="679426"/>
                    <a:pt x="0" y="664301"/>
                    <a:pt x="0" y="648529"/>
                  </a:cubicBezTo>
                  <a:lnTo>
                    <a:pt x="0" y="59467"/>
                  </a:lnTo>
                  <a:cubicBezTo>
                    <a:pt x="0" y="43695"/>
                    <a:pt x="6265" y="28570"/>
                    <a:pt x="17417" y="17417"/>
                  </a:cubicBezTo>
                  <a:cubicBezTo>
                    <a:pt x="28570" y="6265"/>
                    <a:pt x="43695" y="0"/>
                    <a:pt x="59467" y="0"/>
                  </a:cubicBezTo>
                  <a:close/>
                </a:path>
              </a:pathLst>
            </a:custGeom>
            <a:solidFill>
              <a:srgbClr val="3FDF8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857212" cy="72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295034" y="6966517"/>
            <a:ext cx="2402157" cy="925922"/>
          </a:xfrm>
          <a:custGeom>
            <a:avLst/>
            <a:gdLst/>
            <a:ahLst/>
            <a:cxnLst/>
            <a:rect r="r" b="b" t="t" l="l"/>
            <a:pathLst>
              <a:path h="925922" w="2402157">
                <a:moveTo>
                  <a:pt x="0" y="0"/>
                </a:moveTo>
                <a:lnTo>
                  <a:pt x="2402157" y="0"/>
                </a:lnTo>
                <a:lnTo>
                  <a:pt x="2402157" y="925922"/>
                </a:lnTo>
                <a:lnTo>
                  <a:pt x="0" y="925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3263188" y="865480"/>
            <a:ext cx="3254725" cy="2688172"/>
            <a:chOff x="0" y="0"/>
            <a:chExt cx="857212" cy="7079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57212" cy="707996"/>
            </a:xfrm>
            <a:custGeom>
              <a:avLst/>
              <a:gdLst/>
              <a:ahLst/>
              <a:cxnLst/>
              <a:rect r="r" b="b" t="t" l="l"/>
              <a:pathLst>
                <a:path h="707996" w="857212">
                  <a:moveTo>
                    <a:pt x="59467" y="0"/>
                  </a:moveTo>
                  <a:lnTo>
                    <a:pt x="797745" y="0"/>
                  </a:lnTo>
                  <a:cubicBezTo>
                    <a:pt x="813516" y="0"/>
                    <a:pt x="828642" y="6265"/>
                    <a:pt x="839794" y="17417"/>
                  </a:cubicBezTo>
                  <a:cubicBezTo>
                    <a:pt x="850946" y="28570"/>
                    <a:pt x="857212" y="43695"/>
                    <a:pt x="857212" y="59467"/>
                  </a:cubicBezTo>
                  <a:lnTo>
                    <a:pt x="857212" y="648529"/>
                  </a:lnTo>
                  <a:cubicBezTo>
                    <a:pt x="857212" y="664301"/>
                    <a:pt x="850946" y="679426"/>
                    <a:pt x="839794" y="690579"/>
                  </a:cubicBezTo>
                  <a:cubicBezTo>
                    <a:pt x="828642" y="701731"/>
                    <a:pt x="813516" y="707996"/>
                    <a:pt x="797745" y="707996"/>
                  </a:cubicBezTo>
                  <a:lnTo>
                    <a:pt x="59467" y="707996"/>
                  </a:lnTo>
                  <a:cubicBezTo>
                    <a:pt x="43695" y="707996"/>
                    <a:pt x="28570" y="701731"/>
                    <a:pt x="17417" y="690579"/>
                  </a:cubicBezTo>
                  <a:cubicBezTo>
                    <a:pt x="6265" y="679426"/>
                    <a:pt x="0" y="664301"/>
                    <a:pt x="0" y="648529"/>
                  </a:cubicBezTo>
                  <a:lnTo>
                    <a:pt x="0" y="59467"/>
                  </a:lnTo>
                  <a:cubicBezTo>
                    <a:pt x="0" y="43695"/>
                    <a:pt x="6265" y="28570"/>
                    <a:pt x="17417" y="17417"/>
                  </a:cubicBezTo>
                  <a:cubicBezTo>
                    <a:pt x="28570" y="6265"/>
                    <a:pt x="43695" y="0"/>
                    <a:pt x="59467" y="0"/>
                  </a:cubicBezTo>
                  <a:close/>
                </a:path>
              </a:pathLst>
            </a:custGeom>
            <a:solidFill>
              <a:srgbClr val="3FDF8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857212" cy="72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3139836" y="1001511"/>
            <a:ext cx="2402157" cy="925922"/>
          </a:xfrm>
          <a:custGeom>
            <a:avLst/>
            <a:gdLst/>
            <a:ahLst/>
            <a:cxnLst/>
            <a:rect r="r" b="b" t="t" l="l"/>
            <a:pathLst>
              <a:path h="925922" w="2402157">
                <a:moveTo>
                  <a:pt x="0" y="0"/>
                </a:moveTo>
                <a:lnTo>
                  <a:pt x="2402157" y="0"/>
                </a:lnTo>
                <a:lnTo>
                  <a:pt x="2402157" y="925922"/>
                </a:lnTo>
                <a:lnTo>
                  <a:pt x="0" y="925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749291" y="6363569"/>
            <a:ext cx="610791" cy="610791"/>
          </a:xfrm>
          <a:custGeom>
            <a:avLst/>
            <a:gdLst/>
            <a:ahLst/>
            <a:cxnLst/>
            <a:rect r="r" b="b" t="t" l="l"/>
            <a:pathLst>
              <a:path h="610791" w="610791">
                <a:moveTo>
                  <a:pt x="0" y="0"/>
                </a:moveTo>
                <a:lnTo>
                  <a:pt x="610791" y="0"/>
                </a:lnTo>
                <a:lnTo>
                  <a:pt x="610791" y="610791"/>
                </a:lnTo>
                <a:lnTo>
                  <a:pt x="0" y="6107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760822" y="5652124"/>
            <a:ext cx="452487" cy="711446"/>
          </a:xfrm>
          <a:custGeom>
            <a:avLst/>
            <a:gdLst/>
            <a:ahLst/>
            <a:cxnLst/>
            <a:rect r="r" b="b" t="t" l="l"/>
            <a:pathLst>
              <a:path h="711446" w="452487">
                <a:moveTo>
                  <a:pt x="0" y="0"/>
                </a:moveTo>
                <a:lnTo>
                  <a:pt x="452487" y="0"/>
                </a:lnTo>
                <a:lnTo>
                  <a:pt x="452487" y="711445"/>
                </a:lnTo>
                <a:lnTo>
                  <a:pt x="0" y="7114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528432" y="8074294"/>
            <a:ext cx="427700" cy="427700"/>
          </a:xfrm>
          <a:custGeom>
            <a:avLst/>
            <a:gdLst/>
            <a:ahLst/>
            <a:cxnLst/>
            <a:rect r="r" b="b" t="t" l="l"/>
            <a:pathLst>
              <a:path h="427700" w="427700">
                <a:moveTo>
                  <a:pt x="0" y="0"/>
                </a:moveTo>
                <a:lnTo>
                  <a:pt x="427700" y="0"/>
                </a:lnTo>
                <a:lnTo>
                  <a:pt x="427700" y="427700"/>
                </a:lnTo>
                <a:lnTo>
                  <a:pt x="0" y="42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859268" y="2148050"/>
            <a:ext cx="708073" cy="681038"/>
          </a:xfrm>
          <a:custGeom>
            <a:avLst/>
            <a:gdLst/>
            <a:ahLst/>
            <a:cxnLst/>
            <a:rect r="r" b="b" t="t" l="l"/>
            <a:pathLst>
              <a:path h="681038" w="708073">
                <a:moveTo>
                  <a:pt x="0" y="0"/>
                </a:moveTo>
                <a:lnTo>
                  <a:pt x="708074" y="0"/>
                </a:lnTo>
                <a:lnTo>
                  <a:pt x="708074" y="681038"/>
                </a:lnTo>
                <a:lnTo>
                  <a:pt x="0" y="6810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457379" y="2730887"/>
            <a:ext cx="597308" cy="682992"/>
          </a:xfrm>
          <a:custGeom>
            <a:avLst/>
            <a:gdLst/>
            <a:ahLst/>
            <a:cxnLst/>
            <a:rect r="r" b="b" t="t" l="l"/>
            <a:pathLst>
              <a:path h="682992" w="597308">
                <a:moveTo>
                  <a:pt x="0" y="0"/>
                </a:moveTo>
                <a:lnTo>
                  <a:pt x="597307" y="0"/>
                </a:lnTo>
                <a:lnTo>
                  <a:pt x="597307" y="682992"/>
                </a:lnTo>
                <a:lnTo>
                  <a:pt x="0" y="68299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082106" y="4396778"/>
            <a:ext cx="3548186" cy="1522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1"/>
              </a:lnSpc>
            </a:pPr>
            <a:r>
              <a:rPr lang="en-US" b="true" sz="3554">
                <a:solidFill>
                  <a:srgbClr val="000038"/>
                </a:solidFill>
                <a:latin typeface="TT Hoves Bold"/>
                <a:ea typeface="TT Hoves Bold"/>
                <a:cs typeface="TT Hoves Bold"/>
                <a:sym typeface="TT Hoves Bold"/>
              </a:rPr>
              <a:t>Workflow Process</a:t>
            </a:r>
          </a:p>
          <a:p>
            <a:pPr algn="ctr">
              <a:lnSpc>
                <a:spcPts val="3981"/>
              </a:lnSpc>
            </a:pPr>
            <a:r>
              <a:rPr lang="en-US" b="true" sz="3554">
                <a:solidFill>
                  <a:srgbClr val="000038"/>
                </a:solidFill>
                <a:latin typeface="TT Hoves Bold"/>
                <a:ea typeface="TT Hoves Bold"/>
                <a:cs typeface="TT Hoves Bold"/>
                <a:sym typeface="TT Hoves Bold"/>
              </a:rPr>
              <a:t>Stages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43597" y="2293403"/>
            <a:ext cx="2466673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Receive Query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43597" y="5248275"/>
            <a:ext cx="2466673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Cl</a:t>
            </a:r>
            <a:r>
              <a:rPr lang="en-US" sz="18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assify query using predefined rules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91117" y="1368225"/>
            <a:ext cx="2106075" cy="25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Step -1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591117" y="4323097"/>
            <a:ext cx="2106075" cy="25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Step - 2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810826" y="1293020"/>
            <a:ext cx="49944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38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810826" y="4247892"/>
            <a:ext cx="49944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38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843597" y="8203147"/>
            <a:ext cx="2466673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Rou</a:t>
            </a:r>
            <a:r>
              <a:rPr lang="en-US" sz="18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te to</a:t>
            </a:r>
            <a:r>
              <a:rPr lang="en-US" sz="18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correct team (billing / tech / sales)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91117" y="7277969"/>
            <a:ext cx="2106075" cy="25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Step - 3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810826" y="7202764"/>
            <a:ext cx="49944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38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688400" y="2238141"/>
            <a:ext cx="2466673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</a:t>
            </a:r>
            <a:r>
              <a:rPr lang="en-US" sz="18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end response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435919" y="1312963"/>
            <a:ext cx="2106075" cy="25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Step - 4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655628" y="1237758"/>
            <a:ext cx="49944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38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3139836" y="3915602"/>
            <a:ext cx="4548372" cy="5321813"/>
            <a:chOff x="0" y="0"/>
            <a:chExt cx="812800" cy="95101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951015"/>
            </a:xfrm>
            <a:custGeom>
              <a:avLst/>
              <a:gdLst/>
              <a:ahLst/>
              <a:cxnLst/>
              <a:rect r="r" b="b" t="t" l="l"/>
              <a:pathLst>
                <a:path h="951015" w="812800">
                  <a:moveTo>
                    <a:pt x="406400" y="0"/>
                  </a:moveTo>
                  <a:lnTo>
                    <a:pt x="540616" y="96381"/>
                  </a:lnTo>
                  <a:lnTo>
                    <a:pt x="693768" y="139273"/>
                  </a:lnTo>
                  <a:lnTo>
                    <a:pt x="730427" y="318468"/>
                  </a:lnTo>
                  <a:lnTo>
                    <a:pt x="812800" y="475507"/>
                  </a:lnTo>
                  <a:lnTo>
                    <a:pt x="730427" y="632547"/>
                  </a:lnTo>
                  <a:lnTo>
                    <a:pt x="693768" y="811742"/>
                  </a:lnTo>
                  <a:lnTo>
                    <a:pt x="540616" y="854634"/>
                  </a:lnTo>
                  <a:lnTo>
                    <a:pt x="406400" y="951015"/>
                  </a:lnTo>
                  <a:lnTo>
                    <a:pt x="272184" y="854634"/>
                  </a:lnTo>
                  <a:lnTo>
                    <a:pt x="119032" y="811742"/>
                  </a:lnTo>
                  <a:lnTo>
                    <a:pt x="82374" y="632547"/>
                  </a:lnTo>
                  <a:lnTo>
                    <a:pt x="0" y="475507"/>
                  </a:lnTo>
                  <a:lnTo>
                    <a:pt x="82374" y="318468"/>
                  </a:lnTo>
                  <a:lnTo>
                    <a:pt x="119032" y="139273"/>
                  </a:lnTo>
                  <a:lnTo>
                    <a:pt x="272184" y="9638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7B80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139700" y="106306"/>
              <a:ext cx="533400" cy="681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3355145" y="4897365"/>
            <a:ext cx="3999809" cy="538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3"/>
              </a:lnSpc>
              <a:spcBef>
                <a:spcPct val="0"/>
              </a:spcBef>
            </a:pPr>
            <a:r>
              <a:rPr lang="en-US" sz="3167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Characteristics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901836" y="6130857"/>
            <a:ext cx="2906426" cy="1736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669" indent="-271334" lvl="1">
              <a:lnSpc>
                <a:spcPts val="3518"/>
              </a:lnSpc>
              <a:spcBef>
                <a:spcPct val="0"/>
              </a:spcBef>
              <a:buFont typeface="Arial"/>
              <a:buChar char="•"/>
            </a:pPr>
            <a:r>
              <a:rPr lang="en-US" sz="2513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Predictable</a:t>
            </a:r>
          </a:p>
          <a:p>
            <a:pPr algn="l" marL="542669" indent="-271334" lvl="1">
              <a:lnSpc>
                <a:spcPts val="3518"/>
              </a:lnSpc>
              <a:spcBef>
                <a:spcPct val="0"/>
              </a:spcBef>
              <a:buFont typeface="Arial"/>
              <a:buChar char="•"/>
            </a:pPr>
            <a:r>
              <a:rPr lang="en-US" sz="2513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Rule-based</a:t>
            </a:r>
          </a:p>
          <a:p>
            <a:pPr algn="l" marL="542669" indent="-271334" lvl="1">
              <a:lnSpc>
                <a:spcPts val="3518"/>
              </a:lnSpc>
              <a:spcBef>
                <a:spcPct val="0"/>
              </a:spcBef>
              <a:buFont typeface="Arial"/>
              <a:buChar char="•"/>
            </a:pPr>
            <a:r>
              <a:rPr lang="en-US" sz="2513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No decision-making flexibility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1613" y="3295151"/>
            <a:ext cx="2470699" cy="1086349"/>
          </a:xfrm>
          <a:custGeom>
            <a:avLst/>
            <a:gdLst/>
            <a:ahLst/>
            <a:cxnLst/>
            <a:rect r="r" b="b" t="t" l="l"/>
            <a:pathLst>
              <a:path h="1086349" w="2470699">
                <a:moveTo>
                  <a:pt x="0" y="0"/>
                </a:moveTo>
                <a:lnTo>
                  <a:pt x="2470699" y="0"/>
                </a:lnTo>
                <a:lnTo>
                  <a:pt x="2470699" y="1086349"/>
                </a:lnTo>
                <a:lnTo>
                  <a:pt x="0" y="1086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51566" y="3295151"/>
            <a:ext cx="2470699" cy="1086349"/>
          </a:xfrm>
          <a:custGeom>
            <a:avLst/>
            <a:gdLst/>
            <a:ahLst/>
            <a:cxnLst/>
            <a:rect r="r" b="b" t="t" l="l"/>
            <a:pathLst>
              <a:path h="1086349" w="2470699">
                <a:moveTo>
                  <a:pt x="0" y="0"/>
                </a:moveTo>
                <a:lnTo>
                  <a:pt x="2470700" y="0"/>
                </a:lnTo>
                <a:lnTo>
                  <a:pt x="2470700" y="1086349"/>
                </a:lnTo>
                <a:lnTo>
                  <a:pt x="0" y="10863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781519" y="3295151"/>
            <a:ext cx="2470699" cy="1086349"/>
          </a:xfrm>
          <a:custGeom>
            <a:avLst/>
            <a:gdLst/>
            <a:ahLst/>
            <a:cxnLst/>
            <a:rect r="r" b="b" t="t" l="l"/>
            <a:pathLst>
              <a:path h="1086349" w="2470699">
                <a:moveTo>
                  <a:pt x="0" y="0"/>
                </a:moveTo>
                <a:lnTo>
                  <a:pt x="2470700" y="0"/>
                </a:lnTo>
                <a:lnTo>
                  <a:pt x="2470700" y="1086349"/>
                </a:lnTo>
                <a:lnTo>
                  <a:pt x="0" y="10863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11473" y="3295151"/>
            <a:ext cx="2470699" cy="1086349"/>
          </a:xfrm>
          <a:custGeom>
            <a:avLst/>
            <a:gdLst/>
            <a:ahLst/>
            <a:cxnLst/>
            <a:rect r="r" b="b" t="t" l="l"/>
            <a:pathLst>
              <a:path h="1086349" w="2470699">
                <a:moveTo>
                  <a:pt x="0" y="0"/>
                </a:moveTo>
                <a:lnTo>
                  <a:pt x="2470699" y="0"/>
                </a:lnTo>
                <a:lnTo>
                  <a:pt x="2470699" y="1086349"/>
                </a:lnTo>
                <a:lnTo>
                  <a:pt x="0" y="10863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841426" y="3295151"/>
            <a:ext cx="2470699" cy="1086349"/>
          </a:xfrm>
          <a:custGeom>
            <a:avLst/>
            <a:gdLst/>
            <a:ahLst/>
            <a:cxnLst/>
            <a:rect r="r" b="b" t="t" l="l"/>
            <a:pathLst>
              <a:path h="1086349" w="2470699">
                <a:moveTo>
                  <a:pt x="0" y="0"/>
                </a:moveTo>
                <a:lnTo>
                  <a:pt x="2470699" y="0"/>
                </a:lnTo>
                <a:lnTo>
                  <a:pt x="2470699" y="1086349"/>
                </a:lnTo>
                <a:lnTo>
                  <a:pt x="0" y="10863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21613" y="4533900"/>
            <a:ext cx="2470699" cy="3520464"/>
            <a:chOff x="0" y="0"/>
            <a:chExt cx="650719" cy="927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50719" cy="927200"/>
            </a:xfrm>
            <a:custGeom>
              <a:avLst/>
              <a:gdLst/>
              <a:ahLst/>
              <a:cxnLst/>
              <a:rect r="r" b="b" t="t" l="l"/>
              <a:pathLst>
                <a:path h="927200" w="650719">
                  <a:moveTo>
                    <a:pt x="72070" y="0"/>
                  </a:moveTo>
                  <a:lnTo>
                    <a:pt x="578649" y="0"/>
                  </a:lnTo>
                  <a:cubicBezTo>
                    <a:pt x="597763" y="0"/>
                    <a:pt x="616094" y="7593"/>
                    <a:pt x="629610" y="21109"/>
                  </a:cubicBezTo>
                  <a:cubicBezTo>
                    <a:pt x="643126" y="34625"/>
                    <a:pt x="650719" y="52956"/>
                    <a:pt x="650719" y="72070"/>
                  </a:cubicBezTo>
                  <a:lnTo>
                    <a:pt x="650719" y="855130"/>
                  </a:lnTo>
                  <a:cubicBezTo>
                    <a:pt x="650719" y="874244"/>
                    <a:pt x="643126" y="892576"/>
                    <a:pt x="629610" y="906091"/>
                  </a:cubicBezTo>
                  <a:cubicBezTo>
                    <a:pt x="616094" y="919607"/>
                    <a:pt x="597763" y="927200"/>
                    <a:pt x="578649" y="927200"/>
                  </a:cubicBezTo>
                  <a:lnTo>
                    <a:pt x="72070" y="927200"/>
                  </a:lnTo>
                  <a:cubicBezTo>
                    <a:pt x="52956" y="927200"/>
                    <a:pt x="34625" y="919607"/>
                    <a:pt x="21109" y="906091"/>
                  </a:cubicBezTo>
                  <a:cubicBezTo>
                    <a:pt x="7593" y="892576"/>
                    <a:pt x="0" y="874244"/>
                    <a:pt x="0" y="855130"/>
                  </a:cubicBezTo>
                  <a:lnTo>
                    <a:pt x="0" y="72070"/>
                  </a:lnTo>
                  <a:cubicBezTo>
                    <a:pt x="0" y="52956"/>
                    <a:pt x="7593" y="34625"/>
                    <a:pt x="21109" y="21109"/>
                  </a:cubicBezTo>
                  <a:cubicBezTo>
                    <a:pt x="34625" y="7593"/>
                    <a:pt x="52956" y="0"/>
                    <a:pt x="72070" y="0"/>
                  </a:cubicBezTo>
                  <a:close/>
                </a:path>
              </a:pathLst>
            </a:custGeom>
            <a:solidFill>
              <a:srgbClr val="00C26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650719" cy="946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798997" y="4533900"/>
            <a:ext cx="2470699" cy="3520464"/>
            <a:chOff x="0" y="0"/>
            <a:chExt cx="650719" cy="927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0719" cy="927200"/>
            </a:xfrm>
            <a:custGeom>
              <a:avLst/>
              <a:gdLst/>
              <a:ahLst/>
              <a:cxnLst/>
              <a:rect r="r" b="b" t="t" l="l"/>
              <a:pathLst>
                <a:path h="927200" w="650719">
                  <a:moveTo>
                    <a:pt x="72070" y="0"/>
                  </a:moveTo>
                  <a:lnTo>
                    <a:pt x="578649" y="0"/>
                  </a:lnTo>
                  <a:cubicBezTo>
                    <a:pt x="597763" y="0"/>
                    <a:pt x="616094" y="7593"/>
                    <a:pt x="629610" y="21109"/>
                  </a:cubicBezTo>
                  <a:cubicBezTo>
                    <a:pt x="643126" y="34625"/>
                    <a:pt x="650719" y="52956"/>
                    <a:pt x="650719" y="72070"/>
                  </a:cubicBezTo>
                  <a:lnTo>
                    <a:pt x="650719" y="855130"/>
                  </a:lnTo>
                  <a:cubicBezTo>
                    <a:pt x="650719" y="874244"/>
                    <a:pt x="643126" y="892576"/>
                    <a:pt x="629610" y="906091"/>
                  </a:cubicBezTo>
                  <a:cubicBezTo>
                    <a:pt x="616094" y="919607"/>
                    <a:pt x="597763" y="927200"/>
                    <a:pt x="578649" y="927200"/>
                  </a:cubicBezTo>
                  <a:lnTo>
                    <a:pt x="72070" y="927200"/>
                  </a:lnTo>
                  <a:cubicBezTo>
                    <a:pt x="52956" y="927200"/>
                    <a:pt x="34625" y="919607"/>
                    <a:pt x="21109" y="906091"/>
                  </a:cubicBezTo>
                  <a:cubicBezTo>
                    <a:pt x="7593" y="892576"/>
                    <a:pt x="0" y="874244"/>
                    <a:pt x="0" y="855130"/>
                  </a:cubicBezTo>
                  <a:lnTo>
                    <a:pt x="0" y="72070"/>
                  </a:lnTo>
                  <a:cubicBezTo>
                    <a:pt x="0" y="52956"/>
                    <a:pt x="7593" y="34625"/>
                    <a:pt x="21109" y="21109"/>
                  </a:cubicBezTo>
                  <a:cubicBezTo>
                    <a:pt x="34625" y="7593"/>
                    <a:pt x="52956" y="0"/>
                    <a:pt x="72070" y="0"/>
                  </a:cubicBezTo>
                  <a:close/>
                </a:path>
              </a:pathLst>
            </a:custGeom>
            <a:solidFill>
              <a:srgbClr val="00C26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50719" cy="946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76381" y="4533900"/>
            <a:ext cx="2470699" cy="3520464"/>
            <a:chOff x="0" y="0"/>
            <a:chExt cx="650719" cy="927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0719" cy="927200"/>
            </a:xfrm>
            <a:custGeom>
              <a:avLst/>
              <a:gdLst/>
              <a:ahLst/>
              <a:cxnLst/>
              <a:rect r="r" b="b" t="t" l="l"/>
              <a:pathLst>
                <a:path h="927200" w="650719">
                  <a:moveTo>
                    <a:pt x="72070" y="0"/>
                  </a:moveTo>
                  <a:lnTo>
                    <a:pt x="578649" y="0"/>
                  </a:lnTo>
                  <a:cubicBezTo>
                    <a:pt x="597763" y="0"/>
                    <a:pt x="616094" y="7593"/>
                    <a:pt x="629610" y="21109"/>
                  </a:cubicBezTo>
                  <a:cubicBezTo>
                    <a:pt x="643126" y="34625"/>
                    <a:pt x="650719" y="52956"/>
                    <a:pt x="650719" y="72070"/>
                  </a:cubicBezTo>
                  <a:lnTo>
                    <a:pt x="650719" y="855130"/>
                  </a:lnTo>
                  <a:cubicBezTo>
                    <a:pt x="650719" y="874244"/>
                    <a:pt x="643126" y="892576"/>
                    <a:pt x="629610" y="906091"/>
                  </a:cubicBezTo>
                  <a:cubicBezTo>
                    <a:pt x="616094" y="919607"/>
                    <a:pt x="597763" y="927200"/>
                    <a:pt x="578649" y="927200"/>
                  </a:cubicBezTo>
                  <a:lnTo>
                    <a:pt x="72070" y="927200"/>
                  </a:lnTo>
                  <a:cubicBezTo>
                    <a:pt x="52956" y="927200"/>
                    <a:pt x="34625" y="919607"/>
                    <a:pt x="21109" y="906091"/>
                  </a:cubicBezTo>
                  <a:cubicBezTo>
                    <a:pt x="7593" y="892576"/>
                    <a:pt x="0" y="874244"/>
                    <a:pt x="0" y="855130"/>
                  </a:cubicBezTo>
                  <a:lnTo>
                    <a:pt x="0" y="72070"/>
                  </a:lnTo>
                  <a:cubicBezTo>
                    <a:pt x="0" y="52956"/>
                    <a:pt x="7593" y="34625"/>
                    <a:pt x="21109" y="21109"/>
                  </a:cubicBezTo>
                  <a:cubicBezTo>
                    <a:pt x="34625" y="7593"/>
                    <a:pt x="52956" y="0"/>
                    <a:pt x="72070" y="0"/>
                  </a:cubicBezTo>
                  <a:close/>
                </a:path>
              </a:pathLst>
            </a:custGeom>
            <a:solidFill>
              <a:srgbClr val="00C26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650719" cy="946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53764" y="4533900"/>
            <a:ext cx="2470699" cy="3520464"/>
            <a:chOff x="0" y="0"/>
            <a:chExt cx="650719" cy="927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50719" cy="927200"/>
            </a:xfrm>
            <a:custGeom>
              <a:avLst/>
              <a:gdLst/>
              <a:ahLst/>
              <a:cxnLst/>
              <a:rect r="r" b="b" t="t" l="l"/>
              <a:pathLst>
                <a:path h="927200" w="650719">
                  <a:moveTo>
                    <a:pt x="72070" y="0"/>
                  </a:moveTo>
                  <a:lnTo>
                    <a:pt x="578649" y="0"/>
                  </a:lnTo>
                  <a:cubicBezTo>
                    <a:pt x="597763" y="0"/>
                    <a:pt x="616094" y="7593"/>
                    <a:pt x="629610" y="21109"/>
                  </a:cubicBezTo>
                  <a:cubicBezTo>
                    <a:pt x="643126" y="34625"/>
                    <a:pt x="650719" y="52956"/>
                    <a:pt x="650719" y="72070"/>
                  </a:cubicBezTo>
                  <a:lnTo>
                    <a:pt x="650719" y="855130"/>
                  </a:lnTo>
                  <a:cubicBezTo>
                    <a:pt x="650719" y="874244"/>
                    <a:pt x="643126" y="892576"/>
                    <a:pt x="629610" y="906091"/>
                  </a:cubicBezTo>
                  <a:cubicBezTo>
                    <a:pt x="616094" y="919607"/>
                    <a:pt x="597763" y="927200"/>
                    <a:pt x="578649" y="927200"/>
                  </a:cubicBezTo>
                  <a:lnTo>
                    <a:pt x="72070" y="927200"/>
                  </a:lnTo>
                  <a:cubicBezTo>
                    <a:pt x="52956" y="927200"/>
                    <a:pt x="34625" y="919607"/>
                    <a:pt x="21109" y="906091"/>
                  </a:cubicBezTo>
                  <a:cubicBezTo>
                    <a:pt x="7593" y="892576"/>
                    <a:pt x="0" y="874244"/>
                    <a:pt x="0" y="855130"/>
                  </a:cubicBezTo>
                  <a:lnTo>
                    <a:pt x="0" y="72070"/>
                  </a:lnTo>
                  <a:cubicBezTo>
                    <a:pt x="0" y="52956"/>
                    <a:pt x="7593" y="34625"/>
                    <a:pt x="21109" y="21109"/>
                  </a:cubicBezTo>
                  <a:cubicBezTo>
                    <a:pt x="34625" y="7593"/>
                    <a:pt x="52956" y="0"/>
                    <a:pt x="72070" y="0"/>
                  </a:cubicBezTo>
                  <a:close/>
                </a:path>
              </a:pathLst>
            </a:custGeom>
            <a:solidFill>
              <a:srgbClr val="00C26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650719" cy="946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031148" y="4533900"/>
            <a:ext cx="2470699" cy="3520464"/>
            <a:chOff x="0" y="0"/>
            <a:chExt cx="650719" cy="927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0719" cy="927200"/>
            </a:xfrm>
            <a:custGeom>
              <a:avLst/>
              <a:gdLst/>
              <a:ahLst/>
              <a:cxnLst/>
              <a:rect r="r" b="b" t="t" l="l"/>
              <a:pathLst>
                <a:path h="927200" w="650719">
                  <a:moveTo>
                    <a:pt x="72070" y="0"/>
                  </a:moveTo>
                  <a:lnTo>
                    <a:pt x="578649" y="0"/>
                  </a:lnTo>
                  <a:cubicBezTo>
                    <a:pt x="597763" y="0"/>
                    <a:pt x="616094" y="7593"/>
                    <a:pt x="629610" y="21109"/>
                  </a:cubicBezTo>
                  <a:cubicBezTo>
                    <a:pt x="643126" y="34625"/>
                    <a:pt x="650719" y="52956"/>
                    <a:pt x="650719" y="72070"/>
                  </a:cubicBezTo>
                  <a:lnTo>
                    <a:pt x="650719" y="855130"/>
                  </a:lnTo>
                  <a:cubicBezTo>
                    <a:pt x="650719" y="874244"/>
                    <a:pt x="643126" y="892576"/>
                    <a:pt x="629610" y="906091"/>
                  </a:cubicBezTo>
                  <a:cubicBezTo>
                    <a:pt x="616094" y="919607"/>
                    <a:pt x="597763" y="927200"/>
                    <a:pt x="578649" y="927200"/>
                  </a:cubicBezTo>
                  <a:lnTo>
                    <a:pt x="72070" y="927200"/>
                  </a:lnTo>
                  <a:cubicBezTo>
                    <a:pt x="52956" y="927200"/>
                    <a:pt x="34625" y="919607"/>
                    <a:pt x="21109" y="906091"/>
                  </a:cubicBezTo>
                  <a:cubicBezTo>
                    <a:pt x="7593" y="892576"/>
                    <a:pt x="0" y="874244"/>
                    <a:pt x="0" y="855130"/>
                  </a:cubicBezTo>
                  <a:lnTo>
                    <a:pt x="0" y="72070"/>
                  </a:lnTo>
                  <a:cubicBezTo>
                    <a:pt x="0" y="52956"/>
                    <a:pt x="7593" y="34625"/>
                    <a:pt x="21109" y="21109"/>
                  </a:cubicBezTo>
                  <a:cubicBezTo>
                    <a:pt x="34625" y="7593"/>
                    <a:pt x="52956" y="0"/>
                    <a:pt x="72070" y="0"/>
                  </a:cubicBezTo>
                  <a:close/>
                </a:path>
              </a:pathLst>
            </a:custGeom>
            <a:solidFill>
              <a:srgbClr val="00C26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650719" cy="946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828889" y="8198634"/>
            <a:ext cx="2256148" cy="156938"/>
            <a:chOff x="0" y="0"/>
            <a:chExt cx="594212" cy="413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94212" cy="41334"/>
            </a:xfrm>
            <a:custGeom>
              <a:avLst/>
              <a:gdLst/>
              <a:ahLst/>
              <a:cxnLst/>
              <a:rect r="r" b="b" t="t" l="l"/>
              <a:pathLst>
                <a:path h="41334" w="594212">
                  <a:moveTo>
                    <a:pt x="20667" y="0"/>
                  </a:moveTo>
                  <a:lnTo>
                    <a:pt x="573545" y="0"/>
                  </a:lnTo>
                  <a:cubicBezTo>
                    <a:pt x="584959" y="0"/>
                    <a:pt x="594212" y="9253"/>
                    <a:pt x="594212" y="20667"/>
                  </a:cubicBezTo>
                  <a:lnTo>
                    <a:pt x="594212" y="20667"/>
                  </a:lnTo>
                  <a:cubicBezTo>
                    <a:pt x="594212" y="32081"/>
                    <a:pt x="584959" y="41334"/>
                    <a:pt x="573545" y="41334"/>
                  </a:cubicBezTo>
                  <a:lnTo>
                    <a:pt x="20667" y="41334"/>
                  </a:lnTo>
                  <a:cubicBezTo>
                    <a:pt x="9253" y="41334"/>
                    <a:pt x="0" y="32081"/>
                    <a:pt x="0" y="20667"/>
                  </a:cubicBezTo>
                  <a:lnTo>
                    <a:pt x="0" y="20667"/>
                  </a:lnTo>
                  <a:cubicBezTo>
                    <a:pt x="0" y="9253"/>
                    <a:pt x="9253" y="0"/>
                    <a:pt x="2066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94212" cy="79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906273" y="8198634"/>
            <a:ext cx="2256148" cy="156938"/>
            <a:chOff x="0" y="0"/>
            <a:chExt cx="594212" cy="413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4212" cy="41334"/>
            </a:xfrm>
            <a:custGeom>
              <a:avLst/>
              <a:gdLst/>
              <a:ahLst/>
              <a:cxnLst/>
              <a:rect r="r" b="b" t="t" l="l"/>
              <a:pathLst>
                <a:path h="41334" w="594212">
                  <a:moveTo>
                    <a:pt x="20667" y="0"/>
                  </a:moveTo>
                  <a:lnTo>
                    <a:pt x="573545" y="0"/>
                  </a:lnTo>
                  <a:cubicBezTo>
                    <a:pt x="584959" y="0"/>
                    <a:pt x="594212" y="9253"/>
                    <a:pt x="594212" y="20667"/>
                  </a:cubicBezTo>
                  <a:lnTo>
                    <a:pt x="594212" y="20667"/>
                  </a:lnTo>
                  <a:cubicBezTo>
                    <a:pt x="594212" y="32081"/>
                    <a:pt x="584959" y="41334"/>
                    <a:pt x="573545" y="41334"/>
                  </a:cubicBezTo>
                  <a:lnTo>
                    <a:pt x="20667" y="41334"/>
                  </a:lnTo>
                  <a:cubicBezTo>
                    <a:pt x="9253" y="41334"/>
                    <a:pt x="0" y="32081"/>
                    <a:pt x="0" y="20667"/>
                  </a:cubicBezTo>
                  <a:lnTo>
                    <a:pt x="0" y="20667"/>
                  </a:lnTo>
                  <a:cubicBezTo>
                    <a:pt x="0" y="9253"/>
                    <a:pt x="9253" y="0"/>
                    <a:pt x="2066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94212" cy="79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982656" y="8198634"/>
            <a:ext cx="2256148" cy="156938"/>
            <a:chOff x="0" y="0"/>
            <a:chExt cx="594212" cy="413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94212" cy="41334"/>
            </a:xfrm>
            <a:custGeom>
              <a:avLst/>
              <a:gdLst/>
              <a:ahLst/>
              <a:cxnLst/>
              <a:rect r="r" b="b" t="t" l="l"/>
              <a:pathLst>
                <a:path h="41334" w="594212">
                  <a:moveTo>
                    <a:pt x="20667" y="0"/>
                  </a:moveTo>
                  <a:lnTo>
                    <a:pt x="573545" y="0"/>
                  </a:lnTo>
                  <a:cubicBezTo>
                    <a:pt x="584959" y="0"/>
                    <a:pt x="594212" y="9253"/>
                    <a:pt x="594212" y="20667"/>
                  </a:cubicBezTo>
                  <a:lnTo>
                    <a:pt x="594212" y="20667"/>
                  </a:lnTo>
                  <a:cubicBezTo>
                    <a:pt x="594212" y="32081"/>
                    <a:pt x="584959" y="41334"/>
                    <a:pt x="573545" y="41334"/>
                  </a:cubicBezTo>
                  <a:lnTo>
                    <a:pt x="20667" y="41334"/>
                  </a:lnTo>
                  <a:cubicBezTo>
                    <a:pt x="9253" y="41334"/>
                    <a:pt x="0" y="32081"/>
                    <a:pt x="0" y="20667"/>
                  </a:cubicBezTo>
                  <a:lnTo>
                    <a:pt x="0" y="20667"/>
                  </a:lnTo>
                  <a:cubicBezTo>
                    <a:pt x="0" y="9253"/>
                    <a:pt x="9253" y="0"/>
                    <a:pt x="2066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94212" cy="79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059539" y="8198634"/>
            <a:ext cx="2256148" cy="156938"/>
            <a:chOff x="0" y="0"/>
            <a:chExt cx="594212" cy="413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94212" cy="41334"/>
            </a:xfrm>
            <a:custGeom>
              <a:avLst/>
              <a:gdLst/>
              <a:ahLst/>
              <a:cxnLst/>
              <a:rect r="r" b="b" t="t" l="l"/>
              <a:pathLst>
                <a:path h="41334" w="594212">
                  <a:moveTo>
                    <a:pt x="20667" y="0"/>
                  </a:moveTo>
                  <a:lnTo>
                    <a:pt x="573545" y="0"/>
                  </a:lnTo>
                  <a:cubicBezTo>
                    <a:pt x="584959" y="0"/>
                    <a:pt x="594212" y="9253"/>
                    <a:pt x="594212" y="20667"/>
                  </a:cubicBezTo>
                  <a:lnTo>
                    <a:pt x="594212" y="20667"/>
                  </a:lnTo>
                  <a:cubicBezTo>
                    <a:pt x="594212" y="32081"/>
                    <a:pt x="584959" y="41334"/>
                    <a:pt x="573545" y="41334"/>
                  </a:cubicBezTo>
                  <a:lnTo>
                    <a:pt x="20667" y="41334"/>
                  </a:lnTo>
                  <a:cubicBezTo>
                    <a:pt x="9253" y="41334"/>
                    <a:pt x="0" y="32081"/>
                    <a:pt x="0" y="20667"/>
                  </a:cubicBezTo>
                  <a:lnTo>
                    <a:pt x="0" y="20667"/>
                  </a:lnTo>
                  <a:cubicBezTo>
                    <a:pt x="0" y="9253"/>
                    <a:pt x="9253" y="0"/>
                    <a:pt x="2066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594212" cy="79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136422" y="8198634"/>
            <a:ext cx="2256148" cy="156938"/>
            <a:chOff x="0" y="0"/>
            <a:chExt cx="594212" cy="413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94212" cy="41334"/>
            </a:xfrm>
            <a:custGeom>
              <a:avLst/>
              <a:gdLst/>
              <a:ahLst/>
              <a:cxnLst/>
              <a:rect r="r" b="b" t="t" l="l"/>
              <a:pathLst>
                <a:path h="41334" w="594212">
                  <a:moveTo>
                    <a:pt x="20667" y="0"/>
                  </a:moveTo>
                  <a:lnTo>
                    <a:pt x="573545" y="0"/>
                  </a:lnTo>
                  <a:cubicBezTo>
                    <a:pt x="584959" y="0"/>
                    <a:pt x="594212" y="9253"/>
                    <a:pt x="594212" y="20667"/>
                  </a:cubicBezTo>
                  <a:lnTo>
                    <a:pt x="594212" y="20667"/>
                  </a:lnTo>
                  <a:cubicBezTo>
                    <a:pt x="594212" y="32081"/>
                    <a:pt x="584959" y="41334"/>
                    <a:pt x="573545" y="41334"/>
                  </a:cubicBezTo>
                  <a:lnTo>
                    <a:pt x="20667" y="41334"/>
                  </a:lnTo>
                  <a:cubicBezTo>
                    <a:pt x="9253" y="41334"/>
                    <a:pt x="0" y="32081"/>
                    <a:pt x="0" y="20667"/>
                  </a:cubicBezTo>
                  <a:lnTo>
                    <a:pt x="0" y="20667"/>
                  </a:lnTo>
                  <a:cubicBezTo>
                    <a:pt x="0" y="9253"/>
                    <a:pt x="9253" y="0"/>
                    <a:pt x="2066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94212" cy="79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2650199" y="4928040"/>
            <a:ext cx="613528" cy="590102"/>
          </a:xfrm>
          <a:custGeom>
            <a:avLst/>
            <a:gdLst/>
            <a:ahLst/>
            <a:cxnLst/>
            <a:rect r="r" b="b" t="t" l="l"/>
            <a:pathLst>
              <a:path h="590102" w="613528">
                <a:moveTo>
                  <a:pt x="0" y="0"/>
                </a:moveTo>
                <a:lnTo>
                  <a:pt x="613527" y="0"/>
                </a:lnTo>
                <a:lnTo>
                  <a:pt x="613527" y="590102"/>
                </a:lnTo>
                <a:lnTo>
                  <a:pt x="0" y="5901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5777920" y="4928040"/>
            <a:ext cx="512852" cy="590102"/>
          </a:xfrm>
          <a:custGeom>
            <a:avLst/>
            <a:gdLst/>
            <a:ahLst/>
            <a:cxnLst/>
            <a:rect r="r" b="b" t="t" l="l"/>
            <a:pathLst>
              <a:path h="590102" w="512852">
                <a:moveTo>
                  <a:pt x="0" y="0"/>
                </a:moveTo>
                <a:lnTo>
                  <a:pt x="512853" y="0"/>
                </a:lnTo>
                <a:lnTo>
                  <a:pt x="512853" y="590102"/>
                </a:lnTo>
                <a:lnTo>
                  <a:pt x="0" y="59010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8782566" y="4928040"/>
            <a:ext cx="658329" cy="590102"/>
          </a:xfrm>
          <a:custGeom>
            <a:avLst/>
            <a:gdLst/>
            <a:ahLst/>
            <a:cxnLst/>
            <a:rect r="r" b="b" t="t" l="l"/>
            <a:pathLst>
              <a:path h="590102" w="658329">
                <a:moveTo>
                  <a:pt x="0" y="0"/>
                </a:moveTo>
                <a:lnTo>
                  <a:pt x="658329" y="0"/>
                </a:lnTo>
                <a:lnTo>
                  <a:pt x="658329" y="590102"/>
                </a:lnTo>
                <a:lnTo>
                  <a:pt x="0" y="59010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1920779" y="4954756"/>
            <a:ext cx="536670" cy="536670"/>
          </a:xfrm>
          <a:custGeom>
            <a:avLst/>
            <a:gdLst/>
            <a:ahLst/>
            <a:cxnLst/>
            <a:rect r="r" b="b" t="t" l="l"/>
            <a:pathLst>
              <a:path h="536670" w="536670">
                <a:moveTo>
                  <a:pt x="0" y="0"/>
                </a:moveTo>
                <a:lnTo>
                  <a:pt x="536670" y="0"/>
                </a:lnTo>
                <a:lnTo>
                  <a:pt x="536670" y="536670"/>
                </a:lnTo>
                <a:lnTo>
                  <a:pt x="0" y="53667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3324443" y="885825"/>
            <a:ext cx="11639114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Workflow Diagram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324443" y="1706418"/>
            <a:ext cx="1163911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b="true" sz="19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Five steps ensure structured yet flexible project flow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013694" y="5737217"/>
            <a:ext cx="2175703" cy="170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6"/>
              </a:lnSpc>
              <a:spcBef>
                <a:spcPct val="0"/>
              </a:spcBef>
            </a:pPr>
            <a:r>
              <a:rPr lang="en-US" sz="1661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T</a:t>
            </a:r>
            <a:r>
              <a:rPr lang="en-US" sz="1661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he process begins when a customer submits a question or issue through a support channel (e.g., email, chat, or form).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990547" y="5746742"/>
            <a:ext cx="2095258" cy="163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Th</a:t>
            </a:r>
            <a:r>
              <a:rPr lang="en-US" sz="1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e system applies predefined rules or keywords to analyze the query and determine its type (e.g., billing, technical, sales).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721613" y="3701464"/>
            <a:ext cx="2106962" cy="25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Us</a:t>
            </a:r>
            <a:r>
              <a:rPr lang="en-US" sz="1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er Query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772453" y="3701464"/>
            <a:ext cx="2106962" cy="25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C</a:t>
            </a:r>
            <a:r>
              <a:rPr lang="en-US" sz="1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lassification Rules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823293" y="3701464"/>
            <a:ext cx="2106962" cy="25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C</a:t>
            </a:r>
            <a:r>
              <a:rPr lang="en-US" sz="1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ategory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874133" y="3701464"/>
            <a:ext cx="2106962" cy="25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Assigned </a:t>
            </a:r>
            <a:r>
              <a:rPr lang="en-US" sz="1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Team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924972" y="3701464"/>
            <a:ext cx="2106962" cy="25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Response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096371" y="5746742"/>
            <a:ext cx="2095258" cy="1359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Ba</a:t>
            </a:r>
            <a:r>
              <a:rPr lang="en-US" sz="1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sed on th</a:t>
            </a:r>
            <a:r>
              <a:rPr lang="en-US" sz="1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e rules, the query is assigned to a specific category that defines the nature of the issue.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139984" y="5608630"/>
            <a:ext cx="2095258" cy="191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The categorized query is routed to the appropriate team (e.g., billing team, technical support, sales team) responsible for handling it.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216867" y="5867400"/>
            <a:ext cx="2095258" cy="1359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Th</a:t>
            </a:r>
            <a:r>
              <a:rPr lang="en-US" sz="1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e ass</a:t>
            </a:r>
            <a:r>
              <a:rPr lang="en-US" sz="1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igned team reviews the query and provides a response or resolution back to the user.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388072" y="7396141"/>
            <a:ext cx="1134575" cy="513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b="true" sz="3045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467059" y="7387424"/>
            <a:ext cx="1134575" cy="513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b="true" sz="3045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621827" y="7396141"/>
            <a:ext cx="1134575" cy="513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b="true" sz="3045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544443" y="7387424"/>
            <a:ext cx="1134575" cy="513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b="true" sz="3045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700814" y="7387424"/>
            <a:ext cx="1134575" cy="513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3"/>
              </a:lnSpc>
            </a:pPr>
            <a:r>
              <a:rPr lang="en-US" b="true" sz="3045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05</a:t>
            </a:r>
          </a:p>
        </p:txBody>
      </p:sp>
      <p:sp>
        <p:nvSpPr>
          <p:cNvPr name="Freeform 58" id="58"/>
          <p:cNvSpPr/>
          <p:nvPr/>
        </p:nvSpPr>
        <p:spPr>
          <a:xfrm flipH="false" flipV="false" rot="0">
            <a:off x="14997733" y="4928040"/>
            <a:ext cx="537529" cy="590102"/>
          </a:xfrm>
          <a:custGeom>
            <a:avLst/>
            <a:gdLst/>
            <a:ahLst/>
            <a:cxnLst/>
            <a:rect r="r" b="b" t="t" l="l"/>
            <a:pathLst>
              <a:path h="590102" w="537529">
                <a:moveTo>
                  <a:pt x="0" y="0"/>
                </a:moveTo>
                <a:lnTo>
                  <a:pt x="537530" y="0"/>
                </a:lnTo>
                <a:lnTo>
                  <a:pt x="537530" y="590102"/>
                </a:lnTo>
                <a:lnTo>
                  <a:pt x="0" y="59010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17091" y="534299"/>
            <a:ext cx="4423560" cy="2601228"/>
            <a:chOff x="0" y="0"/>
            <a:chExt cx="1165053" cy="6850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5053" cy="685097"/>
            </a:xfrm>
            <a:custGeom>
              <a:avLst/>
              <a:gdLst/>
              <a:ahLst/>
              <a:cxnLst/>
              <a:rect r="r" b="b" t="t" l="l"/>
              <a:pathLst>
                <a:path h="685097" w="1165053">
                  <a:moveTo>
                    <a:pt x="43754" y="0"/>
                  </a:moveTo>
                  <a:lnTo>
                    <a:pt x="1121299" y="0"/>
                  </a:lnTo>
                  <a:cubicBezTo>
                    <a:pt x="1132903" y="0"/>
                    <a:pt x="1144032" y="4610"/>
                    <a:pt x="1152238" y="12815"/>
                  </a:cubicBezTo>
                  <a:cubicBezTo>
                    <a:pt x="1160443" y="21021"/>
                    <a:pt x="1165053" y="32150"/>
                    <a:pt x="1165053" y="43754"/>
                  </a:cubicBezTo>
                  <a:lnTo>
                    <a:pt x="1165053" y="641343"/>
                  </a:lnTo>
                  <a:cubicBezTo>
                    <a:pt x="1165053" y="652947"/>
                    <a:pt x="1160443" y="664076"/>
                    <a:pt x="1152238" y="672282"/>
                  </a:cubicBezTo>
                  <a:cubicBezTo>
                    <a:pt x="1144032" y="680487"/>
                    <a:pt x="1132903" y="685097"/>
                    <a:pt x="1121299" y="685097"/>
                  </a:cubicBezTo>
                  <a:lnTo>
                    <a:pt x="43754" y="685097"/>
                  </a:lnTo>
                  <a:cubicBezTo>
                    <a:pt x="32150" y="685097"/>
                    <a:pt x="21021" y="680487"/>
                    <a:pt x="12815" y="672282"/>
                  </a:cubicBezTo>
                  <a:cubicBezTo>
                    <a:pt x="4610" y="664076"/>
                    <a:pt x="0" y="652947"/>
                    <a:pt x="0" y="641343"/>
                  </a:cubicBezTo>
                  <a:lnTo>
                    <a:pt x="0" y="43754"/>
                  </a:lnTo>
                  <a:cubicBezTo>
                    <a:pt x="0" y="32150"/>
                    <a:pt x="4610" y="21021"/>
                    <a:pt x="12815" y="12815"/>
                  </a:cubicBezTo>
                  <a:cubicBezTo>
                    <a:pt x="21021" y="4610"/>
                    <a:pt x="32150" y="0"/>
                    <a:pt x="43754" y="0"/>
                  </a:cubicBezTo>
                  <a:close/>
                </a:path>
              </a:pathLst>
            </a:custGeom>
            <a:solidFill>
              <a:srgbClr val="77FE4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165053" cy="704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717091" y="3268877"/>
            <a:ext cx="4423560" cy="2601228"/>
            <a:chOff x="0" y="0"/>
            <a:chExt cx="1165053" cy="6850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65053" cy="685097"/>
            </a:xfrm>
            <a:custGeom>
              <a:avLst/>
              <a:gdLst/>
              <a:ahLst/>
              <a:cxnLst/>
              <a:rect r="r" b="b" t="t" l="l"/>
              <a:pathLst>
                <a:path h="685097" w="1165053">
                  <a:moveTo>
                    <a:pt x="43754" y="0"/>
                  </a:moveTo>
                  <a:lnTo>
                    <a:pt x="1121299" y="0"/>
                  </a:lnTo>
                  <a:cubicBezTo>
                    <a:pt x="1132903" y="0"/>
                    <a:pt x="1144032" y="4610"/>
                    <a:pt x="1152238" y="12815"/>
                  </a:cubicBezTo>
                  <a:cubicBezTo>
                    <a:pt x="1160443" y="21021"/>
                    <a:pt x="1165053" y="32150"/>
                    <a:pt x="1165053" y="43754"/>
                  </a:cubicBezTo>
                  <a:lnTo>
                    <a:pt x="1165053" y="641343"/>
                  </a:lnTo>
                  <a:cubicBezTo>
                    <a:pt x="1165053" y="652947"/>
                    <a:pt x="1160443" y="664076"/>
                    <a:pt x="1152238" y="672282"/>
                  </a:cubicBezTo>
                  <a:cubicBezTo>
                    <a:pt x="1144032" y="680487"/>
                    <a:pt x="1132903" y="685097"/>
                    <a:pt x="1121299" y="685097"/>
                  </a:cubicBezTo>
                  <a:lnTo>
                    <a:pt x="43754" y="685097"/>
                  </a:lnTo>
                  <a:cubicBezTo>
                    <a:pt x="32150" y="685097"/>
                    <a:pt x="21021" y="680487"/>
                    <a:pt x="12815" y="672282"/>
                  </a:cubicBezTo>
                  <a:cubicBezTo>
                    <a:pt x="4610" y="664076"/>
                    <a:pt x="0" y="652947"/>
                    <a:pt x="0" y="641343"/>
                  </a:cubicBezTo>
                  <a:lnTo>
                    <a:pt x="0" y="43754"/>
                  </a:lnTo>
                  <a:cubicBezTo>
                    <a:pt x="0" y="32150"/>
                    <a:pt x="4610" y="21021"/>
                    <a:pt x="12815" y="12815"/>
                  </a:cubicBezTo>
                  <a:cubicBezTo>
                    <a:pt x="21021" y="4610"/>
                    <a:pt x="32150" y="0"/>
                    <a:pt x="43754" y="0"/>
                  </a:cubicBezTo>
                  <a:close/>
                </a:path>
              </a:pathLst>
            </a:custGeom>
            <a:solidFill>
              <a:srgbClr val="77FE4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165053" cy="704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067900" y="1381466"/>
            <a:ext cx="9446926" cy="8382000"/>
          </a:xfrm>
          <a:custGeom>
            <a:avLst/>
            <a:gdLst/>
            <a:ahLst/>
            <a:cxnLst/>
            <a:rect r="r" b="b" t="t" l="l"/>
            <a:pathLst>
              <a:path h="8382000" w="9446926">
                <a:moveTo>
                  <a:pt x="0" y="0"/>
                </a:moveTo>
                <a:lnTo>
                  <a:pt x="9446926" y="0"/>
                </a:lnTo>
                <a:lnTo>
                  <a:pt x="9446926" y="8382000"/>
                </a:lnTo>
                <a:lnTo>
                  <a:pt x="0" y="838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514826" y="1179121"/>
            <a:ext cx="1048991" cy="1311583"/>
          </a:xfrm>
          <a:custGeom>
            <a:avLst/>
            <a:gdLst/>
            <a:ahLst/>
            <a:cxnLst/>
            <a:rect r="r" b="b" t="t" l="l"/>
            <a:pathLst>
              <a:path h="1311583" w="1048991">
                <a:moveTo>
                  <a:pt x="0" y="0"/>
                </a:moveTo>
                <a:lnTo>
                  <a:pt x="1048991" y="0"/>
                </a:lnTo>
                <a:lnTo>
                  <a:pt x="1048991" y="1311583"/>
                </a:lnTo>
                <a:lnTo>
                  <a:pt x="0" y="13115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514826" y="3913699"/>
            <a:ext cx="1048991" cy="1311583"/>
          </a:xfrm>
          <a:custGeom>
            <a:avLst/>
            <a:gdLst/>
            <a:ahLst/>
            <a:cxnLst/>
            <a:rect r="r" b="b" t="t" l="l"/>
            <a:pathLst>
              <a:path h="1311583" w="1048991">
                <a:moveTo>
                  <a:pt x="0" y="0"/>
                </a:moveTo>
                <a:lnTo>
                  <a:pt x="1048991" y="0"/>
                </a:lnTo>
                <a:lnTo>
                  <a:pt x="1048991" y="1311583"/>
                </a:lnTo>
                <a:lnTo>
                  <a:pt x="0" y="13115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597089" y="1304022"/>
            <a:ext cx="4423560" cy="2601228"/>
            <a:chOff x="0" y="0"/>
            <a:chExt cx="1165053" cy="6850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65053" cy="685097"/>
            </a:xfrm>
            <a:custGeom>
              <a:avLst/>
              <a:gdLst/>
              <a:ahLst/>
              <a:cxnLst/>
              <a:rect r="r" b="b" t="t" l="l"/>
              <a:pathLst>
                <a:path h="685097" w="1165053">
                  <a:moveTo>
                    <a:pt x="43754" y="0"/>
                  </a:moveTo>
                  <a:lnTo>
                    <a:pt x="1121299" y="0"/>
                  </a:lnTo>
                  <a:cubicBezTo>
                    <a:pt x="1132903" y="0"/>
                    <a:pt x="1144032" y="4610"/>
                    <a:pt x="1152238" y="12815"/>
                  </a:cubicBezTo>
                  <a:cubicBezTo>
                    <a:pt x="1160443" y="21021"/>
                    <a:pt x="1165053" y="32150"/>
                    <a:pt x="1165053" y="43754"/>
                  </a:cubicBezTo>
                  <a:lnTo>
                    <a:pt x="1165053" y="641343"/>
                  </a:lnTo>
                  <a:cubicBezTo>
                    <a:pt x="1165053" y="652947"/>
                    <a:pt x="1160443" y="664076"/>
                    <a:pt x="1152238" y="672282"/>
                  </a:cubicBezTo>
                  <a:cubicBezTo>
                    <a:pt x="1144032" y="680487"/>
                    <a:pt x="1132903" y="685097"/>
                    <a:pt x="1121299" y="685097"/>
                  </a:cubicBezTo>
                  <a:lnTo>
                    <a:pt x="43754" y="685097"/>
                  </a:lnTo>
                  <a:cubicBezTo>
                    <a:pt x="32150" y="685097"/>
                    <a:pt x="21021" y="680487"/>
                    <a:pt x="12815" y="672282"/>
                  </a:cubicBezTo>
                  <a:cubicBezTo>
                    <a:pt x="4610" y="664076"/>
                    <a:pt x="0" y="652947"/>
                    <a:pt x="0" y="641343"/>
                  </a:cubicBezTo>
                  <a:lnTo>
                    <a:pt x="0" y="43754"/>
                  </a:lnTo>
                  <a:cubicBezTo>
                    <a:pt x="0" y="32150"/>
                    <a:pt x="4610" y="21021"/>
                    <a:pt x="12815" y="12815"/>
                  </a:cubicBezTo>
                  <a:cubicBezTo>
                    <a:pt x="21021" y="4610"/>
                    <a:pt x="32150" y="0"/>
                    <a:pt x="43754" y="0"/>
                  </a:cubicBezTo>
                  <a:close/>
                </a:path>
              </a:pathLst>
            </a:custGeom>
            <a:solidFill>
              <a:srgbClr val="77FE4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65053" cy="704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394824" y="1948845"/>
            <a:ext cx="1048991" cy="1311583"/>
          </a:xfrm>
          <a:custGeom>
            <a:avLst/>
            <a:gdLst/>
            <a:ahLst/>
            <a:cxnLst/>
            <a:rect r="r" b="b" t="t" l="l"/>
            <a:pathLst>
              <a:path h="1311583" w="1048991">
                <a:moveTo>
                  <a:pt x="0" y="0"/>
                </a:moveTo>
                <a:lnTo>
                  <a:pt x="1048991" y="0"/>
                </a:lnTo>
                <a:lnTo>
                  <a:pt x="1048991" y="1311583"/>
                </a:lnTo>
                <a:lnTo>
                  <a:pt x="0" y="13115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571564" y="6041672"/>
            <a:ext cx="1332084" cy="1181922"/>
          </a:xfrm>
          <a:custGeom>
            <a:avLst/>
            <a:gdLst/>
            <a:ahLst/>
            <a:cxnLst/>
            <a:rect r="r" b="b" t="t" l="l"/>
            <a:pathLst>
              <a:path h="1181922" w="1332084">
                <a:moveTo>
                  <a:pt x="0" y="0"/>
                </a:moveTo>
                <a:lnTo>
                  <a:pt x="1332083" y="0"/>
                </a:lnTo>
                <a:lnTo>
                  <a:pt x="1332083" y="1181922"/>
                </a:lnTo>
                <a:lnTo>
                  <a:pt x="0" y="11819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974895" y="1971972"/>
            <a:ext cx="928585" cy="896506"/>
          </a:xfrm>
          <a:custGeom>
            <a:avLst/>
            <a:gdLst/>
            <a:ahLst/>
            <a:cxnLst/>
            <a:rect r="r" b="b" t="t" l="l"/>
            <a:pathLst>
              <a:path h="896506" w="928585">
                <a:moveTo>
                  <a:pt x="0" y="0"/>
                </a:moveTo>
                <a:lnTo>
                  <a:pt x="928585" y="0"/>
                </a:lnTo>
                <a:lnTo>
                  <a:pt x="928585" y="896506"/>
                </a:lnTo>
                <a:lnTo>
                  <a:pt x="0" y="8965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990746" y="6263508"/>
            <a:ext cx="760537" cy="618109"/>
          </a:xfrm>
          <a:custGeom>
            <a:avLst/>
            <a:gdLst/>
            <a:ahLst/>
            <a:cxnLst/>
            <a:rect r="r" b="b" t="t" l="l"/>
            <a:pathLst>
              <a:path h="618109" w="760537">
                <a:moveTo>
                  <a:pt x="0" y="0"/>
                </a:moveTo>
                <a:lnTo>
                  <a:pt x="760537" y="0"/>
                </a:lnTo>
                <a:lnTo>
                  <a:pt x="760537" y="618110"/>
                </a:lnTo>
                <a:lnTo>
                  <a:pt x="0" y="6181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130079" y="6146869"/>
            <a:ext cx="6157921" cy="3907481"/>
          </a:xfrm>
          <a:custGeom>
            <a:avLst/>
            <a:gdLst/>
            <a:ahLst/>
            <a:cxnLst/>
            <a:rect r="r" b="b" t="t" l="l"/>
            <a:pathLst>
              <a:path h="3907481" w="6157921">
                <a:moveTo>
                  <a:pt x="0" y="0"/>
                </a:moveTo>
                <a:lnTo>
                  <a:pt x="6157921" y="0"/>
                </a:lnTo>
                <a:lnTo>
                  <a:pt x="6157921" y="3907481"/>
                </a:lnTo>
                <a:lnTo>
                  <a:pt x="0" y="39074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511252" y="5063797"/>
            <a:ext cx="2686050" cy="1546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7"/>
              </a:lnSpc>
            </a:pPr>
            <a:r>
              <a:rPr lang="en-US" b="true" sz="36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Ag</a:t>
            </a:r>
            <a:r>
              <a:rPr lang="en-US" b="true" sz="36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ent Approach (AI Agent)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60839" y="2457756"/>
            <a:ext cx="2919573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Und</a:t>
            </a: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er</a:t>
            </a: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stand user query using LLM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660839" y="1618994"/>
            <a:ext cx="2813778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8"/>
              </a:lnSpc>
              <a:spcBef>
                <a:spcPct val="0"/>
              </a:spcBef>
            </a:pPr>
            <a:r>
              <a:rPr lang="en-US" b="true" sz="1777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Agent</a:t>
            </a:r>
            <a:r>
              <a:rPr lang="en-US" b="true" sz="1777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 Behavior - 1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87667" y="1631452"/>
            <a:ext cx="2813778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</a:t>
            </a: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ecide which tool or action to use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906717" y="1058430"/>
            <a:ext cx="2813778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8"/>
              </a:lnSpc>
              <a:spcBef>
                <a:spcPct val="0"/>
              </a:spcBef>
            </a:pPr>
            <a:r>
              <a:rPr lang="en-US" b="true" sz="1777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Agent Behavior - 2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887667" y="4550440"/>
            <a:ext cx="2813778" cy="25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Dyna</a:t>
            </a: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mically</a:t>
            </a: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route or respond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906717" y="3793008"/>
            <a:ext cx="2813778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8"/>
              </a:lnSpc>
              <a:spcBef>
                <a:spcPct val="0"/>
              </a:spcBef>
            </a:pPr>
            <a:r>
              <a:rPr lang="en-US" b="true" sz="1777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Transparency - 3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10711" y="2225346"/>
            <a:ext cx="845766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530713" y="1455623"/>
            <a:ext cx="845766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30713" y="4190200"/>
            <a:ext cx="845766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833232" y="7166444"/>
            <a:ext cx="2922648" cy="2738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7"/>
              </a:lnSpc>
              <a:spcBef>
                <a:spcPct val="0"/>
              </a:spcBef>
            </a:pPr>
            <a:r>
              <a:rPr lang="en-US" sz="1933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Examp</a:t>
            </a:r>
            <a:r>
              <a:rPr lang="en-US" sz="1933" strike="noStrike" u="none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l</a:t>
            </a:r>
            <a:r>
              <a:rPr lang="en-US" sz="1933" strike="noStrike" u="none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e:</a:t>
            </a:r>
          </a:p>
          <a:p>
            <a:pPr algn="ctr" marL="0" indent="0" lvl="0">
              <a:lnSpc>
                <a:spcPts val="2707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2707"/>
              </a:lnSpc>
              <a:spcBef>
                <a:spcPct val="0"/>
              </a:spcBef>
            </a:pPr>
            <a:r>
              <a:rPr lang="en-US" sz="1933" strike="noStrike" u="none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“Based </a:t>
            </a:r>
            <a:r>
              <a:rPr lang="en-US" sz="1933" strike="noStrike" u="none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o</a:t>
            </a:r>
            <a:r>
              <a:rPr lang="en-US" sz="1933" strike="noStrike" u="none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n the q</a:t>
            </a:r>
            <a:r>
              <a:rPr lang="en-US" sz="1933" strike="noStrike" u="none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u</a:t>
            </a:r>
            <a:r>
              <a:rPr lang="en-US" sz="1933" strike="noStrike" u="none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ery, I will classify this as a billing issue an</a:t>
            </a:r>
            <a:r>
              <a:rPr lang="en-US" sz="1933" strike="noStrike" u="none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d</a:t>
            </a:r>
            <a:r>
              <a:rPr lang="en-US" sz="1933" strike="noStrike" u="none">
                <a:solidFill>
                  <a:srgbClr val="000000"/>
                </a:solidFill>
                <a:latin typeface="Cloud"/>
                <a:ea typeface="Cloud"/>
                <a:cs typeface="Cloud"/>
                <a:sym typeface="Cloud"/>
              </a:rPr>
              <a:t> retrieve relevant policy before responding.”</a:t>
            </a:r>
          </a:p>
          <a:p>
            <a:pPr algn="ctr" marL="0" indent="0" lvl="0">
              <a:lnSpc>
                <a:spcPts val="270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95504" y="714476"/>
            <a:ext cx="8696992" cy="8858048"/>
          </a:xfrm>
          <a:custGeom>
            <a:avLst/>
            <a:gdLst/>
            <a:ahLst/>
            <a:cxnLst/>
            <a:rect r="r" b="b" t="t" l="l"/>
            <a:pathLst>
              <a:path h="8858048" w="8696992">
                <a:moveTo>
                  <a:pt x="0" y="0"/>
                </a:moveTo>
                <a:lnTo>
                  <a:pt x="8696992" y="0"/>
                </a:lnTo>
                <a:lnTo>
                  <a:pt x="8696992" y="8858048"/>
                </a:lnTo>
                <a:lnTo>
                  <a:pt x="0" y="8858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22212" y="1028700"/>
            <a:ext cx="419100" cy="419100"/>
            <a:chOff x="0" y="0"/>
            <a:chExt cx="110380" cy="1103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380" cy="110380"/>
            </a:xfrm>
            <a:custGeom>
              <a:avLst/>
              <a:gdLst/>
              <a:ahLst/>
              <a:cxnLst/>
              <a:rect r="r" b="b" t="t" l="l"/>
              <a:pathLst>
                <a:path h="110380" w="110380">
                  <a:moveTo>
                    <a:pt x="0" y="0"/>
                  </a:moveTo>
                  <a:lnTo>
                    <a:pt x="110380" y="0"/>
                  </a:lnTo>
                  <a:lnTo>
                    <a:pt x="110380" y="110380"/>
                  </a:lnTo>
                  <a:lnTo>
                    <a:pt x="0" y="1103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10380" cy="129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b="true" sz="1600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5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804710" y="4079921"/>
            <a:ext cx="419100" cy="419100"/>
            <a:chOff x="0" y="0"/>
            <a:chExt cx="110380" cy="1103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380" cy="110380"/>
            </a:xfrm>
            <a:custGeom>
              <a:avLst/>
              <a:gdLst/>
              <a:ahLst/>
              <a:cxnLst/>
              <a:rect r="r" b="b" t="t" l="l"/>
              <a:pathLst>
                <a:path h="110380" w="110380">
                  <a:moveTo>
                    <a:pt x="0" y="0"/>
                  </a:moveTo>
                  <a:lnTo>
                    <a:pt x="110380" y="0"/>
                  </a:lnTo>
                  <a:lnTo>
                    <a:pt x="110380" y="110380"/>
                  </a:lnTo>
                  <a:lnTo>
                    <a:pt x="0" y="1103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0380" cy="129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b="true" sz="1600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4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4079921"/>
            <a:ext cx="419100" cy="419100"/>
            <a:chOff x="0" y="0"/>
            <a:chExt cx="110380" cy="1103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380" cy="110380"/>
            </a:xfrm>
            <a:custGeom>
              <a:avLst/>
              <a:gdLst/>
              <a:ahLst/>
              <a:cxnLst/>
              <a:rect r="r" b="b" t="t" l="l"/>
              <a:pathLst>
                <a:path h="110380" w="110380">
                  <a:moveTo>
                    <a:pt x="0" y="0"/>
                  </a:moveTo>
                  <a:lnTo>
                    <a:pt x="110380" y="0"/>
                  </a:lnTo>
                  <a:lnTo>
                    <a:pt x="110380" y="110380"/>
                  </a:lnTo>
                  <a:lnTo>
                    <a:pt x="0" y="1103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10380" cy="129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b="true" sz="1600" strike="noStrike" u="none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7650702"/>
            <a:ext cx="419100" cy="419100"/>
            <a:chOff x="0" y="0"/>
            <a:chExt cx="110380" cy="1103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380" cy="110380"/>
            </a:xfrm>
            <a:custGeom>
              <a:avLst/>
              <a:gdLst/>
              <a:ahLst/>
              <a:cxnLst/>
              <a:rect r="r" b="b" t="t" l="l"/>
              <a:pathLst>
                <a:path h="110380" w="110380">
                  <a:moveTo>
                    <a:pt x="0" y="0"/>
                  </a:moveTo>
                  <a:lnTo>
                    <a:pt x="110380" y="0"/>
                  </a:lnTo>
                  <a:lnTo>
                    <a:pt x="110380" y="110380"/>
                  </a:lnTo>
                  <a:lnTo>
                    <a:pt x="0" y="1103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10380" cy="129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b="true" sz="1600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2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183985" y="7650702"/>
            <a:ext cx="419100" cy="419100"/>
            <a:chOff x="0" y="0"/>
            <a:chExt cx="110380" cy="1103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380" cy="110380"/>
            </a:xfrm>
            <a:custGeom>
              <a:avLst/>
              <a:gdLst/>
              <a:ahLst/>
              <a:cxnLst/>
              <a:rect r="r" b="b" t="t" l="l"/>
              <a:pathLst>
                <a:path h="110380" w="110380">
                  <a:moveTo>
                    <a:pt x="0" y="0"/>
                  </a:moveTo>
                  <a:lnTo>
                    <a:pt x="110380" y="0"/>
                  </a:lnTo>
                  <a:lnTo>
                    <a:pt x="110380" y="110380"/>
                  </a:lnTo>
                  <a:lnTo>
                    <a:pt x="0" y="1103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10380" cy="129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b="true" sz="1600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3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6286500" y="4304474"/>
            <a:ext cx="727665" cy="839026"/>
          </a:xfrm>
          <a:custGeom>
            <a:avLst/>
            <a:gdLst/>
            <a:ahLst/>
            <a:cxnLst/>
            <a:rect r="r" b="b" t="t" l="l"/>
            <a:pathLst>
              <a:path h="839026" w="727665">
                <a:moveTo>
                  <a:pt x="0" y="0"/>
                </a:moveTo>
                <a:lnTo>
                  <a:pt x="727665" y="0"/>
                </a:lnTo>
                <a:lnTo>
                  <a:pt x="727665" y="839026"/>
                </a:lnTo>
                <a:lnTo>
                  <a:pt x="0" y="8390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315466" y="4249380"/>
            <a:ext cx="686034" cy="894120"/>
          </a:xfrm>
          <a:custGeom>
            <a:avLst/>
            <a:gdLst/>
            <a:ahLst/>
            <a:cxnLst/>
            <a:rect r="r" b="b" t="t" l="l"/>
            <a:pathLst>
              <a:path h="894120" w="686034">
                <a:moveTo>
                  <a:pt x="0" y="0"/>
                </a:moveTo>
                <a:lnTo>
                  <a:pt x="686034" y="0"/>
                </a:lnTo>
                <a:lnTo>
                  <a:pt x="686034" y="894120"/>
                </a:lnTo>
                <a:lnTo>
                  <a:pt x="0" y="8941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219387" y="7327325"/>
            <a:ext cx="833824" cy="833824"/>
          </a:xfrm>
          <a:custGeom>
            <a:avLst/>
            <a:gdLst/>
            <a:ahLst/>
            <a:cxnLst/>
            <a:rect r="r" b="b" t="t" l="l"/>
            <a:pathLst>
              <a:path h="833824" w="833824">
                <a:moveTo>
                  <a:pt x="0" y="0"/>
                </a:moveTo>
                <a:lnTo>
                  <a:pt x="833824" y="0"/>
                </a:lnTo>
                <a:lnTo>
                  <a:pt x="833824" y="833824"/>
                </a:lnTo>
                <a:lnTo>
                  <a:pt x="0" y="8338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307945" y="7225269"/>
            <a:ext cx="912272" cy="912272"/>
          </a:xfrm>
          <a:custGeom>
            <a:avLst/>
            <a:gdLst/>
            <a:ahLst/>
            <a:cxnLst/>
            <a:rect r="r" b="b" t="t" l="l"/>
            <a:pathLst>
              <a:path h="912272" w="912272">
                <a:moveTo>
                  <a:pt x="0" y="0"/>
                </a:moveTo>
                <a:lnTo>
                  <a:pt x="912271" y="0"/>
                </a:lnTo>
                <a:lnTo>
                  <a:pt x="912271" y="912271"/>
                </a:lnTo>
                <a:lnTo>
                  <a:pt x="0" y="9122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690255" y="2119483"/>
            <a:ext cx="774139" cy="662945"/>
          </a:xfrm>
          <a:custGeom>
            <a:avLst/>
            <a:gdLst/>
            <a:ahLst/>
            <a:cxnLst/>
            <a:rect r="r" b="b" t="t" l="l"/>
            <a:pathLst>
              <a:path h="662945" w="774139">
                <a:moveTo>
                  <a:pt x="0" y="0"/>
                </a:moveTo>
                <a:lnTo>
                  <a:pt x="774140" y="0"/>
                </a:lnTo>
                <a:lnTo>
                  <a:pt x="774140" y="662945"/>
                </a:lnTo>
                <a:lnTo>
                  <a:pt x="0" y="66294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885825"/>
            <a:ext cx="5914807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Agent Diagram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1706418"/>
            <a:ext cx="4460735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b="true" sz="19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Five repeating steps drive ongoing development success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63024" y="1461339"/>
            <a:ext cx="2813778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Th</a:t>
            </a: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 agent dec</a:t>
            </a: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ides which tool or resource is needed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263024" y="1021302"/>
            <a:ext cx="2813778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8"/>
              </a:lnSpc>
              <a:spcBef>
                <a:spcPct val="0"/>
              </a:spcBef>
            </a:pPr>
            <a:r>
              <a:rPr lang="en-US" b="true" sz="1777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To</a:t>
            </a:r>
            <a:r>
              <a:rPr lang="en-US" b="true" sz="1777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ol Selection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445522" y="4512560"/>
            <a:ext cx="2813778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The se</a:t>
            </a: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lected</a:t>
            </a: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tool is used to perform the required task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69512" y="4512560"/>
            <a:ext cx="2813778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The user submits a question or request to the system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445522" y="4072523"/>
            <a:ext cx="2813778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8"/>
              </a:lnSpc>
              <a:spcBef>
                <a:spcPct val="0"/>
              </a:spcBef>
            </a:pPr>
            <a:r>
              <a:rPr lang="en-US" b="true" sz="1777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Act</a:t>
            </a:r>
            <a:r>
              <a:rPr lang="en-US" b="true" sz="1777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ion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69512" y="4072523"/>
            <a:ext cx="2813778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8"/>
              </a:lnSpc>
              <a:spcBef>
                <a:spcPct val="0"/>
              </a:spcBef>
            </a:pPr>
            <a:r>
              <a:rPr lang="en-US" b="true" sz="1777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User Query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69512" y="8083341"/>
            <a:ext cx="2813778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The model analyzes the query and understands the intent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69512" y="7643304"/>
            <a:ext cx="2813778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8"/>
              </a:lnSpc>
              <a:spcBef>
                <a:spcPct val="0"/>
              </a:spcBef>
            </a:pPr>
            <a:r>
              <a:rPr lang="en-US" b="true" sz="1777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LLM (Reasoning)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824797" y="8083341"/>
            <a:ext cx="2813778" cy="80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The final answer or r</a:t>
            </a:r>
            <a:r>
              <a:rPr lang="en-US" sz="16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esult is generated and returned to the user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824797" y="7643304"/>
            <a:ext cx="2813778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8"/>
              </a:lnSpc>
              <a:spcBef>
                <a:spcPct val="0"/>
              </a:spcBef>
            </a:pPr>
            <a:r>
              <a:rPr lang="en-US" b="true" sz="1777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R</a:t>
            </a:r>
            <a:r>
              <a:rPr lang="en-US" b="true" sz="1777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esponse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0C2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4077211" y="2674874"/>
          <a:ext cx="10133578" cy="6361982"/>
        </p:xfrm>
        <a:graphic>
          <a:graphicData uri="http://schemas.openxmlformats.org/drawingml/2006/table">
            <a:tbl>
              <a:tblPr/>
              <a:tblGrid>
                <a:gridCol w="3537219"/>
                <a:gridCol w="3537219"/>
                <a:gridCol w="3059140"/>
              </a:tblGrid>
              <a:tr h="12723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004259"/>
                          </a:solidFill>
                          <a:latin typeface="TT Hoves Bold"/>
                          <a:ea typeface="TT Hoves Bold"/>
                          <a:cs typeface="TT Hoves Bold"/>
                          <a:sym typeface="TT Hoves Bold"/>
                        </a:rPr>
                        <a:t>Aspect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004259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Workflow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004259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Agent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23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4259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Structure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4259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Fixed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4259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Dynamic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23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4259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Decision Making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4259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Rule-based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4259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LLM-based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23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4259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Flexibility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4259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4259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23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4259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Adaptability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4259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Limited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4259"/>
                          </a:solidFill>
                          <a:latin typeface="TT Hoves"/>
                          <a:ea typeface="TT Hoves"/>
                          <a:cs typeface="TT Hoves"/>
                          <a:sym typeface="TT Hoves"/>
                        </a:rPr>
                        <a:t>Strong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6316682" y="904875"/>
            <a:ext cx="5654636" cy="98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79"/>
              </a:lnSpc>
              <a:spcBef>
                <a:spcPct val="0"/>
              </a:spcBef>
            </a:pPr>
            <a:r>
              <a:rPr lang="en-US" b="true" sz="5699">
                <a:solidFill>
                  <a:srgbClr val="004259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Key differences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44477" y="1449813"/>
            <a:ext cx="16268589" cy="9080831"/>
          </a:xfrm>
          <a:custGeom>
            <a:avLst/>
            <a:gdLst/>
            <a:ahLst/>
            <a:cxnLst/>
            <a:rect r="r" b="b" t="t" l="l"/>
            <a:pathLst>
              <a:path h="9080831" w="16268589">
                <a:moveTo>
                  <a:pt x="0" y="0"/>
                </a:moveTo>
                <a:lnTo>
                  <a:pt x="16268589" y="0"/>
                </a:lnTo>
                <a:lnTo>
                  <a:pt x="16268589" y="9080831"/>
                </a:lnTo>
                <a:lnTo>
                  <a:pt x="0" y="90808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92826" y="5547800"/>
            <a:ext cx="2283360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799"/>
              </a:lnSpc>
            </a:pPr>
            <a:r>
              <a:rPr lang="en-US" b="true" sz="69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66707" y="3948046"/>
            <a:ext cx="2283360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799"/>
              </a:lnSpc>
            </a:pPr>
            <a:r>
              <a:rPr lang="en-US" b="true" sz="69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50881" y="2506747"/>
            <a:ext cx="2283360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799"/>
              </a:lnSpc>
            </a:pPr>
            <a:r>
              <a:rPr lang="en-US" b="true" sz="69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392826" y="6381108"/>
            <a:ext cx="2505130" cy="3086100"/>
            <a:chOff x="0" y="0"/>
            <a:chExt cx="659787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9787" cy="812800"/>
            </a:xfrm>
            <a:custGeom>
              <a:avLst/>
              <a:gdLst/>
              <a:ahLst/>
              <a:cxnLst/>
              <a:rect r="r" b="b" t="t" l="l"/>
              <a:pathLst>
                <a:path h="812800" w="659787">
                  <a:moveTo>
                    <a:pt x="58718" y="0"/>
                  </a:moveTo>
                  <a:lnTo>
                    <a:pt x="601069" y="0"/>
                  </a:lnTo>
                  <a:cubicBezTo>
                    <a:pt x="633498" y="0"/>
                    <a:pt x="659787" y="26289"/>
                    <a:pt x="659787" y="58718"/>
                  </a:cubicBezTo>
                  <a:lnTo>
                    <a:pt x="659787" y="754082"/>
                  </a:lnTo>
                  <a:cubicBezTo>
                    <a:pt x="659787" y="769655"/>
                    <a:pt x="653601" y="784590"/>
                    <a:pt x="642589" y="795602"/>
                  </a:cubicBezTo>
                  <a:cubicBezTo>
                    <a:pt x="631577" y="806614"/>
                    <a:pt x="616642" y="812800"/>
                    <a:pt x="601069" y="812800"/>
                  </a:cubicBezTo>
                  <a:lnTo>
                    <a:pt x="58718" y="812800"/>
                  </a:lnTo>
                  <a:cubicBezTo>
                    <a:pt x="26289" y="812800"/>
                    <a:pt x="0" y="786511"/>
                    <a:pt x="0" y="754082"/>
                  </a:cubicBezTo>
                  <a:lnTo>
                    <a:pt x="0" y="58718"/>
                  </a:lnTo>
                  <a:cubicBezTo>
                    <a:pt x="0" y="26289"/>
                    <a:pt x="26289" y="0"/>
                    <a:pt x="58718" y="0"/>
                  </a:cubicBezTo>
                  <a:close/>
                </a:path>
              </a:pathLst>
            </a:custGeom>
            <a:solidFill>
              <a:srgbClr val="77FE4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5978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524570" y="4867636"/>
            <a:ext cx="2505130" cy="3086100"/>
            <a:chOff x="0" y="0"/>
            <a:chExt cx="659787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9787" cy="812800"/>
            </a:xfrm>
            <a:custGeom>
              <a:avLst/>
              <a:gdLst/>
              <a:ahLst/>
              <a:cxnLst/>
              <a:rect r="r" b="b" t="t" l="l"/>
              <a:pathLst>
                <a:path h="812800" w="659787">
                  <a:moveTo>
                    <a:pt x="58718" y="0"/>
                  </a:moveTo>
                  <a:lnTo>
                    <a:pt x="601069" y="0"/>
                  </a:lnTo>
                  <a:cubicBezTo>
                    <a:pt x="633498" y="0"/>
                    <a:pt x="659787" y="26289"/>
                    <a:pt x="659787" y="58718"/>
                  </a:cubicBezTo>
                  <a:lnTo>
                    <a:pt x="659787" y="754082"/>
                  </a:lnTo>
                  <a:cubicBezTo>
                    <a:pt x="659787" y="769655"/>
                    <a:pt x="653601" y="784590"/>
                    <a:pt x="642589" y="795602"/>
                  </a:cubicBezTo>
                  <a:cubicBezTo>
                    <a:pt x="631577" y="806614"/>
                    <a:pt x="616642" y="812800"/>
                    <a:pt x="601069" y="812800"/>
                  </a:cubicBezTo>
                  <a:lnTo>
                    <a:pt x="58718" y="812800"/>
                  </a:lnTo>
                  <a:cubicBezTo>
                    <a:pt x="26289" y="812800"/>
                    <a:pt x="0" y="786511"/>
                    <a:pt x="0" y="754082"/>
                  </a:cubicBezTo>
                  <a:lnTo>
                    <a:pt x="0" y="58718"/>
                  </a:lnTo>
                  <a:cubicBezTo>
                    <a:pt x="0" y="26289"/>
                    <a:pt x="26289" y="0"/>
                    <a:pt x="58718" y="0"/>
                  </a:cubicBezTo>
                  <a:close/>
                </a:path>
              </a:pathLst>
            </a:custGeom>
            <a:solidFill>
              <a:srgbClr val="77FE4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5978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28248" y="3354164"/>
            <a:ext cx="2505130" cy="3086100"/>
            <a:chOff x="0" y="0"/>
            <a:chExt cx="659787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9787" cy="812800"/>
            </a:xfrm>
            <a:custGeom>
              <a:avLst/>
              <a:gdLst/>
              <a:ahLst/>
              <a:cxnLst/>
              <a:rect r="r" b="b" t="t" l="l"/>
              <a:pathLst>
                <a:path h="812800" w="659787">
                  <a:moveTo>
                    <a:pt x="58718" y="0"/>
                  </a:moveTo>
                  <a:lnTo>
                    <a:pt x="601069" y="0"/>
                  </a:lnTo>
                  <a:cubicBezTo>
                    <a:pt x="633498" y="0"/>
                    <a:pt x="659787" y="26289"/>
                    <a:pt x="659787" y="58718"/>
                  </a:cubicBezTo>
                  <a:lnTo>
                    <a:pt x="659787" y="754082"/>
                  </a:lnTo>
                  <a:cubicBezTo>
                    <a:pt x="659787" y="769655"/>
                    <a:pt x="653601" y="784590"/>
                    <a:pt x="642589" y="795602"/>
                  </a:cubicBezTo>
                  <a:cubicBezTo>
                    <a:pt x="631577" y="806614"/>
                    <a:pt x="616642" y="812800"/>
                    <a:pt x="601069" y="812800"/>
                  </a:cubicBezTo>
                  <a:lnTo>
                    <a:pt x="58718" y="812800"/>
                  </a:lnTo>
                  <a:cubicBezTo>
                    <a:pt x="26289" y="812800"/>
                    <a:pt x="0" y="786511"/>
                    <a:pt x="0" y="754082"/>
                  </a:cubicBezTo>
                  <a:lnTo>
                    <a:pt x="0" y="58718"/>
                  </a:lnTo>
                  <a:cubicBezTo>
                    <a:pt x="0" y="26289"/>
                    <a:pt x="26289" y="0"/>
                    <a:pt x="58718" y="0"/>
                  </a:cubicBezTo>
                  <a:close/>
                </a:path>
              </a:pathLst>
            </a:custGeom>
            <a:solidFill>
              <a:srgbClr val="77FE4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5978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3172302" y="6188814"/>
            <a:ext cx="1025992" cy="1024160"/>
          </a:xfrm>
          <a:custGeom>
            <a:avLst/>
            <a:gdLst/>
            <a:ahLst/>
            <a:cxnLst/>
            <a:rect r="r" b="b" t="t" l="l"/>
            <a:pathLst>
              <a:path h="1024160" w="1025992">
                <a:moveTo>
                  <a:pt x="0" y="0"/>
                </a:moveTo>
                <a:lnTo>
                  <a:pt x="1025991" y="0"/>
                </a:lnTo>
                <a:lnTo>
                  <a:pt x="1025991" y="1024160"/>
                </a:lnTo>
                <a:lnTo>
                  <a:pt x="0" y="10241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286500" y="4693208"/>
            <a:ext cx="1025992" cy="1024160"/>
          </a:xfrm>
          <a:custGeom>
            <a:avLst/>
            <a:gdLst/>
            <a:ahLst/>
            <a:cxnLst/>
            <a:rect r="r" b="b" t="t" l="l"/>
            <a:pathLst>
              <a:path h="1024160" w="1025992">
                <a:moveTo>
                  <a:pt x="0" y="0"/>
                </a:moveTo>
                <a:lnTo>
                  <a:pt x="1025992" y="0"/>
                </a:lnTo>
                <a:lnTo>
                  <a:pt x="1025992" y="1024159"/>
                </a:lnTo>
                <a:lnTo>
                  <a:pt x="0" y="10241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400698" y="3197601"/>
            <a:ext cx="1025992" cy="1024160"/>
          </a:xfrm>
          <a:custGeom>
            <a:avLst/>
            <a:gdLst/>
            <a:ahLst/>
            <a:cxnLst/>
            <a:rect r="r" b="b" t="t" l="l"/>
            <a:pathLst>
              <a:path h="1024160" w="1025992">
                <a:moveTo>
                  <a:pt x="0" y="0"/>
                </a:moveTo>
                <a:lnTo>
                  <a:pt x="1025992" y="0"/>
                </a:lnTo>
                <a:lnTo>
                  <a:pt x="1025992" y="1024160"/>
                </a:lnTo>
                <a:lnTo>
                  <a:pt x="0" y="10241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423785" y="7003894"/>
            <a:ext cx="443212" cy="550264"/>
          </a:xfrm>
          <a:custGeom>
            <a:avLst/>
            <a:gdLst/>
            <a:ahLst/>
            <a:cxnLst/>
            <a:rect r="r" b="b" t="t" l="l"/>
            <a:pathLst>
              <a:path h="550264" w="443212">
                <a:moveTo>
                  <a:pt x="0" y="0"/>
                </a:moveTo>
                <a:lnTo>
                  <a:pt x="443212" y="0"/>
                </a:lnTo>
                <a:lnTo>
                  <a:pt x="443212" y="550264"/>
                </a:lnTo>
                <a:lnTo>
                  <a:pt x="0" y="5502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485798" y="5407555"/>
            <a:ext cx="582673" cy="582673"/>
          </a:xfrm>
          <a:custGeom>
            <a:avLst/>
            <a:gdLst/>
            <a:ahLst/>
            <a:cxnLst/>
            <a:rect r="r" b="b" t="t" l="l"/>
            <a:pathLst>
              <a:path h="582673" w="582673">
                <a:moveTo>
                  <a:pt x="0" y="0"/>
                </a:moveTo>
                <a:lnTo>
                  <a:pt x="582673" y="0"/>
                </a:lnTo>
                <a:lnTo>
                  <a:pt x="582673" y="582673"/>
                </a:lnTo>
                <a:lnTo>
                  <a:pt x="0" y="58267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545475" y="3899627"/>
            <a:ext cx="670676" cy="615802"/>
          </a:xfrm>
          <a:custGeom>
            <a:avLst/>
            <a:gdLst/>
            <a:ahLst/>
            <a:cxnLst/>
            <a:rect r="r" b="b" t="t" l="l"/>
            <a:pathLst>
              <a:path h="615802" w="670676">
                <a:moveTo>
                  <a:pt x="0" y="0"/>
                </a:moveTo>
                <a:lnTo>
                  <a:pt x="670676" y="0"/>
                </a:lnTo>
                <a:lnTo>
                  <a:pt x="670676" y="615802"/>
                </a:lnTo>
                <a:lnTo>
                  <a:pt x="0" y="61580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885825"/>
            <a:ext cx="5914807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R</a:t>
            </a:r>
            <a:r>
              <a:rPr lang="en-US" b="true" sz="36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eAct Framework (from learning material)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2656290"/>
            <a:ext cx="4460735" cy="3990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b="true" sz="19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Agents use ReAct (Reason + Act):</a:t>
            </a:r>
          </a:p>
          <a:p>
            <a:pPr algn="l">
              <a:lnSpc>
                <a:spcPts val="2660"/>
              </a:lnSpc>
            </a:pP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b="true" sz="19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Reason → </a:t>
            </a:r>
            <a:r>
              <a:rPr lang="en-US" sz="19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Understand problem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b="true" sz="19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Act → </a:t>
            </a:r>
            <a:r>
              <a:rPr lang="en-US" sz="19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Use tools or take actions</a:t>
            </a:r>
          </a:p>
          <a:p>
            <a:pPr algn="l">
              <a:lnSpc>
                <a:spcPts val="2660"/>
              </a:lnSpc>
            </a:pPr>
          </a:p>
          <a:p>
            <a:pPr algn="l">
              <a:lnSpc>
                <a:spcPts val="2660"/>
              </a:lnSpc>
            </a:pPr>
            <a:r>
              <a:rPr lang="en-US" b="true" sz="19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Example:</a:t>
            </a:r>
          </a:p>
          <a:p>
            <a:pPr algn="l">
              <a:lnSpc>
                <a:spcPts val="2660"/>
              </a:lnSpc>
            </a:pP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b="true" sz="19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Reason</a:t>
            </a:r>
            <a:r>
              <a:rPr lang="en-US" sz="19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: “This is a billing issue”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b="true" sz="19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Act</a:t>
            </a:r>
            <a:r>
              <a:rPr lang="en-US" sz="19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: “Fetch billing data → generate response”</a:t>
            </a:r>
          </a:p>
          <a:p>
            <a:pPr algn="l">
              <a:lnSpc>
                <a:spcPts val="2660"/>
              </a:lnSpc>
            </a:pPr>
          </a:p>
          <a:p>
            <a:pPr algn="l">
              <a:lnSpc>
                <a:spcPts val="266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3658073" y="7830956"/>
            <a:ext cx="1974635" cy="621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b="true" sz="1777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Steps a</a:t>
            </a:r>
            <a:r>
              <a:rPr lang="en-US" b="true" sz="1777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re predictable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789817" y="6342400"/>
            <a:ext cx="1974635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b="true" sz="1777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Logi</a:t>
            </a:r>
            <a:r>
              <a:rPr lang="en-US" b="true" sz="1777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c is simple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16258" y="4853843"/>
            <a:ext cx="2185242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b="true" sz="1777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N</a:t>
            </a:r>
            <a:r>
              <a:rPr lang="en-US" b="true" sz="1777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o ambiguity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751171" y="3193095"/>
            <a:ext cx="3013281" cy="621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b="true" sz="1777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When to Use Workflow</a:t>
            </a:r>
          </a:p>
          <a:p>
            <a:pPr algn="ctr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Use workflows when: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066828" y="4821219"/>
            <a:ext cx="4548372" cy="3759350"/>
            <a:chOff x="0" y="0"/>
            <a:chExt cx="812800" cy="67180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671801"/>
            </a:xfrm>
            <a:custGeom>
              <a:avLst/>
              <a:gdLst/>
              <a:ahLst/>
              <a:cxnLst/>
              <a:rect r="r" b="b" t="t" l="l"/>
              <a:pathLst>
                <a:path h="671801" w="812800">
                  <a:moveTo>
                    <a:pt x="406400" y="0"/>
                  </a:moveTo>
                  <a:lnTo>
                    <a:pt x="540616" y="68084"/>
                  </a:lnTo>
                  <a:lnTo>
                    <a:pt x="693768" y="98383"/>
                  </a:lnTo>
                  <a:lnTo>
                    <a:pt x="730427" y="224967"/>
                  </a:lnTo>
                  <a:lnTo>
                    <a:pt x="812800" y="335900"/>
                  </a:lnTo>
                  <a:lnTo>
                    <a:pt x="730427" y="446834"/>
                  </a:lnTo>
                  <a:lnTo>
                    <a:pt x="693768" y="573418"/>
                  </a:lnTo>
                  <a:lnTo>
                    <a:pt x="540616" y="603717"/>
                  </a:lnTo>
                  <a:lnTo>
                    <a:pt x="406400" y="671801"/>
                  </a:lnTo>
                  <a:lnTo>
                    <a:pt x="272184" y="603717"/>
                  </a:lnTo>
                  <a:lnTo>
                    <a:pt x="119032" y="573418"/>
                  </a:lnTo>
                  <a:lnTo>
                    <a:pt x="82374" y="446834"/>
                  </a:lnTo>
                  <a:lnTo>
                    <a:pt x="0" y="335900"/>
                  </a:lnTo>
                  <a:lnTo>
                    <a:pt x="82374" y="224967"/>
                  </a:lnTo>
                  <a:lnTo>
                    <a:pt x="119032" y="98383"/>
                  </a:lnTo>
                  <a:lnTo>
                    <a:pt x="272184" y="68084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7B8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39700" y="58316"/>
              <a:ext cx="533400" cy="4980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4027312" y="6651204"/>
            <a:ext cx="2627406" cy="1442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432" indent="-224216" lvl="1">
              <a:lnSpc>
                <a:spcPts val="290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77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Form processing</a:t>
            </a:r>
          </a:p>
          <a:p>
            <a:pPr algn="l" marL="448432" indent="-224216" lvl="1">
              <a:lnSpc>
                <a:spcPts val="290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77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Data pipelines</a:t>
            </a:r>
          </a:p>
          <a:p>
            <a:pPr algn="l" marL="448432" indent="-224216" lvl="1">
              <a:lnSpc>
                <a:spcPts val="290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77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Scheduled tasks</a:t>
            </a:r>
          </a:p>
          <a:p>
            <a:pPr algn="ctr">
              <a:lnSpc>
                <a:spcPts val="2907"/>
              </a:lnSpc>
              <a:spcBef>
                <a:spcPct val="0"/>
              </a:spcBef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13324003" y="5478416"/>
            <a:ext cx="3999809" cy="538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3"/>
              </a:lnSpc>
              <a:spcBef>
                <a:spcPct val="0"/>
              </a:spcBef>
            </a:pPr>
            <a:r>
              <a:rPr lang="en-US" b="true" sz="3167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Examples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633819"/>
            <a:ext cx="419100" cy="419100"/>
            <a:chOff x="0" y="0"/>
            <a:chExt cx="110380" cy="1103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380" cy="110380"/>
            </a:xfrm>
            <a:custGeom>
              <a:avLst/>
              <a:gdLst/>
              <a:ahLst/>
              <a:cxnLst/>
              <a:rect r="r" b="b" t="t" l="l"/>
              <a:pathLst>
                <a:path h="110380" w="110380">
                  <a:moveTo>
                    <a:pt x="0" y="0"/>
                  </a:moveTo>
                  <a:lnTo>
                    <a:pt x="110380" y="0"/>
                  </a:lnTo>
                  <a:lnTo>
                    <a:pt x="110380" y="110380"/>
                  </a:lnTo>
                  <a:lnTo>
                    <a:pt x="0" y="110380"/>
                  </a:lnTo>
                  <a:close/>
                </a:path>
              </a:pathLst>
            </a:custGeom>
            <a:solidFill>
              <a:srgbClr val="56E11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10380" cy="129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b="true" sz="1600" strike="noStrike" u="none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3903437"/>
            <a:ext cx="419100" cy="419100"/>
            <a:chOff x="0" y="0"/>
            <a:chExt cx="110380" cy="1103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380" cy="110380"/>
            </a:xfrm>
            <a:custGeom>
              <a:avLst/>
              <a:gdLst/>
              <a:ahLst/>
              <a:cxnLst/>
              <a:rect r="r" b="b" t="t" l="l"/>
              <a:pathLst>
                <a:path h="110380" w="110380">
                  <a:moveTo>
                    <a:pt x="0" y="0"/>
                  </a:moveTo>
                  <a:lnTo>
                    <a:pt x="110380" y="0"/>
                  </a:lnTo>
                  <a:lnTo>
                    <a:pt x="110380" y="110380"/>
                  </a:lnTo>
                  <a:lnTo>
                    <a:pt x="0" y="110380"/>
                  </a:lnTo>
                  <a:close/>
                </a:path>
              </a:pathLst>
            </a:custGeom>
            <a:solidFill>
              <a:srgbClr val="56E11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10380" cy="129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b="true" sz="1600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2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834610" y="1019315"/>
            <a:ext cx="9230600" cy="6922950"/>
          </a:xfrm>
          <a:custGeom>
            <a:avLst/>
            <a:gdLst/>
            <a:ahLst/>
            <a:cxnLst/>
            <a:rect r="r" b="b" t="t" l="l"/>
            <a:pathLst>
              <a:path h="6922950" w="9230600">
                <a:moveTo>
                  <a:pt x="0" y="0"/>
                </a:moveTo>
                <a:lnTo>
                  <a:pt x="9230600" y="0"/>
                </a:lnTo>
                <a:lnTo>
                  <a:pt x="9230600" y="6922950"/>
                </a:lnTo>
                <a:lnTo>
                  <a:pt x="0" y="6922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885825"/>
            <a:ext cx="5914807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When to Use Agents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706418"/>
            <a:ext cx="446073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b="true" sz="19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Use agents when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69512" y="2595719"/>
            <a:ext cx="2813778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8"/>
              </a:lnSpc>
              <a:spcBef>
                <a:spcPct val="0"/>
              </a:spcBef>
            </a:pPr>
            <a:r>
              <a:rPr lang="en-US" b="true" sz="1777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Problems are dynamic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69512" y="3896039"/>
            <a:ext cx="2813778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8"/>
              </a:lnSpc>
              <a:spcBef>
                <a:spcPct val="0"/>
              </a:spcBef>
            </a:pPr>
            <a:r>
              <a:rPr lang="en-US" b="true" sz="1777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R</a:t>
            </a:r>
            <a:r>
              <a:rPr lang="en-US" b="true" sz="1777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equire reasoning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8700" y="5173054"/>
            <a:ext cx="419100" cy="419100"/>
            <a:chOff x="0" y="0"/>
            <a:chExt cx="110380" cy="1103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380" cy="110380"/>
            </a:xfrm>
            <a:custGeom>
              <a:avLst/>
              <a:gdLst/>
              <a:ahLst/>
              <a:cxnLst/>
              <a:rect r="r" b="b" t="t" l="l"/>
              <a:pathLst>
                <a:path h="110380" w="110380">
                  <a:moveTo>
                    <a:pt x="0" y="0"/>
                  </a:moveTo>
                  <a:lnTo>
                    <a:pt x="110380" y="0"/>
                  </a:lnTo>
                  <a:lnTo>
                    <a:pt x="110380" y="110380"/>
                  </a:lnTo>
                  <a:lnTo>
                    <a:pt x="0" y="110380"/>
                  </a:lnTo>
                  <a:close/>
                </a:path>
              </a:pathLst>
            </a:custGeom>
            <a:solidFill>
              <a:srgbClr val="56E11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10380" cy="129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b="true" sz="1600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3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669512" y="5165656"/>
            <a:ext cx="2813778" cy="3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8"/>
              </a:lnSpc>
              <a:spcBef>
                <a:spcPct val="0"/>
              </a:spcBef>
            </a:pPr>
            <a:r>
              <a:rPr lang="en-US" b="true" sz="1777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N</a:t>
            </a:r>
            <a:r>
              <a:rPr lang="en-US" b="true" sz="1777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eed tool selection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07143" y="5690247"/>
            <a:ext cx="6627985" cy="4205758"/>
          </a:xfrm>
          <a:custGeom>
            <a:avLst/>
            <a:gdLst/>
            <a:ahLst/>
            <a:cxnLst/>
            <a:rect r="r" b="b" t="t" l="l"/>
            <a:pathLst>
              <a:path h="4205758" w="6627985">
                <a:moveTo>
                  <a:pt x="0" y="0"/>
                </a:moveTo>
                <a:lnTo>
                  <a:pt x="6627985" y="0"/>
                </a:lnTo>
                <a:lnTo>
                  <a:pt x="6627985" y="4205758"/>
                </a:lnTo>
                <a:lnTo>
                  <a:pt x="0" y="42057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871122" y="6558783"/>
            <a:ext cx="3224335" cy="2890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  <a:spcBef>
                <a:spcPct val="0"/>
              </a:spcBef>
            </a:pPr>
            <a:r>
              <a:rPr lang="en-US" b="true" sz="208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Examples:</a:t>
            </a:r>
          </a:p>
          <a:p>
            <a:pPr algn="l">
              <a:lnSpc>
                <a:spcPts val="2924"/>
              </a:lnSpc>
              <a:spcBef>
                <a:spcPct val="0"/>
              </a:spcBef>
            </a:pPr>
          </a:p>
          <a:p>
            <a:pPr algn="l" marL="451065" indent="-225532" lvl="1">
              <a:lnSpc>
                <a:spcPts val="2924"/>
              </a:lnSpc>
              <a:spcBef>
                <a:spcPct val="0"/>
              </a:spcBef>
              <a:buAutoNum type="arabicPeriod" startAt="1"/>
            </a:pPr>
            <a:r>
              <a:rPr lang="en-US" b="true" sz="208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Customer support assistants</a:t>
            </a:r>
          </a:p>
          <a:p>
            <a:pPr algn="l">
              <a:lnSpc>
                <a:spcPts val="2924"/>
              </a:lnSpc>
              <a:spcBef>
                <a:spcPct val="0"/>
              </a:spcBef>
            </a:pPr>
          </a:p>
          <a:p>
            <a:pPr algn="l" marL="451065" indent="-225532" lvl="1">
              <a:lnSpc>
                <a:spcPts val="2924"/>
              </a:lnSpc>
              <a:spcBef>
                <a:spcPct val="0"/>
              </a:spcBef>
              <a:buAutoNum type="arabicPeriod" startAt="1"/>
            </a:pPr>
            <a:r>
              <a:rPr lang="en-US" b="true" sz="208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Research agents</a:t>
            </a:r>
          </a:p>
          <a:p>
            <a:pPr algn="l">
              <a:lnSpc>
                <a:spcPts val="2924"/>
              </a:lnSpc>
              <a:spcBef>
                <a:spcPct val="0"/>
              </a:spcBef>
            </a:pPr>
          </a:p>
          <a:p>
            <a:pPr algn="l" marL="451065" indent="-225532" lvl="1">
              <a:lnSpc>
                <a:spcPts val="2924"/>
              </a:lnSpc>
              <a:spcBef>
                <a:spcPct val="0"/>
              </a:spcBef>
              <a:buAutoNum type="arabicPeriod" startAt="1"/>
            </a:pPr>
            <a:r>
              <a:rPr lang="en-US" b="true" sz="208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AI copilots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1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7476" y="1638762"/>
            <a:ext cx="17033047" cy="9063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86"/>
              </a:lnSpc>
            </a:pPr>
            <a:r>
              <a:rPr lang="en-US" sz="5133" b="true">
                <a:solidFill>
                  <a:srgbClr val="0042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Memory in Agents</a:t>
            </a:r>
          </a:p>
          <a:p>
            <a:pPr algn="l">
              <a:lnSpc>
                <a:spcPts val="7186"/>
              </a:lnSpc>
            </a:pPr>
          </a:p>
          <a:p>
            <a:pPr algn="l">
              <a:lnSpc>
                <a:spcPts val="5703"/>
              </a:lnSpc>
            </a:pPr>
            <a:r>
              <a:rPr lang="en-US" sz="4074" b="true">
                <a:solidFill>
                  <a:srgbClr val="016D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From le</a:t>
            </a:r>
            <a:r>
              <a:rPr lang="en-US" sz="4074" b="true">
                <a:solidFill>
                  <a:srgbClr val="016D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</a:t>
            </a:r>
            <a:r>
              <a:rPr lang="en-US" sz="4074" b="true">
                <a:solidFill>
                  <a:srgbClr val="016D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</a:t>
            </a:r>
            <a:r>
              <a:rPr lang="en-US" sz="4074" b="true">
                <a:solidFill>
                  <a:srgbClr val="016D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ing material:</a:t>
            </a:r>
          </a:p>
          <a:p>
            <a:pPr algn="l" marL="879619" indent="-439809" lvl="1">
              <a:lnSpc>
                <a:spcPts val="5703"/>
              </a:lnSpc>
              <a:buFont typeface="Arial"/>
              <a:buChar char="•"/>
            </a:pPr>
            <a:r>
              <a:rPr lang="en-US" b="true" sz="4074">
                <a:solidFill>
                  <a:srgbClr val="016D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Agents can store conversation history</a:t>
            </a:r>
          </a:p>
          <a:p>
            <a:pPr algn="l" marL="879619" indent="-439809" lvl="1">
              <a:lnSpc>
                <a:spcPts val="5703"/>
              </a:lnSpc>
              <a:buFont typeface="Arial"/>
              <a:buChar char="•"/>
            </a:pPr>
            <a:r>
              <a:rPr lang="en-US" b="true" sz="4074">
                <a:solidFill>
                  <a:srgbClr val="016D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Enables personalized responses</a:t>
            </a:r>
          </a:p>
          <a:p>
            <a:pPr algn="l">
              <a:lnSpc>
                <a:spcPts val="5703"/>
              </a:lnSpc>
            </a:pPr>
          </a:p>
          <a:p>
            <a:pPr algn="l">
              <a:lnSpc>
                <a:spcPts val="5703"/>
              </a:lnSpc>
            </a:pPr>
          </a:p>
          <a:p>
            <a:pPr algn="l">
              <a:lnSpc>
                <a:spcPts val="5703"/>
              </a:lnSpc>
            </a:pPr>
            <a:r>
              <a:rPr lang="en-US" b="true" sz="4074">
                <a:solidFill>
                  <a:srgbClr val="0042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</a:t>
            </a:r>
            <a:r>
              <a:rPr lang="en-US" sz="4074" b="true">
                <a:solidFill>
                  <a:srgbClr val="0042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ample:</a:t>
            </a:r>
          </a:p>
          <a:p>
            <a:pPr algn="l">
              <a:lnSpc>
                <a:spcPts val="5703"/>
              </a:lnSpc>
            </a:pPr>
            <a:r>
              <a:rPr lang="en-US" sz="4074" b="true">
                <a:solidFill>
                  <a:srgbClr val="0042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“U</a:t>
            </a:r>
            <a:r>
              <a:rPr lang="en-US" sz="4074" b="true">
                <a:solidFill>
                  <a:srgbClr val="0042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ser previously asked about billing → continue context”</a:t>
            </a:r>
          </a:p>
          <a:p>
            <a:pPr algn="ctr">
              <a:lnSpc>
                <a:spcPts val="5703"/>
              </a:lnSpc>
            </a:pPr>
          </a:p>
          <a:p>
            <a:pPr algn="ctr">
              <a:lnSpc>
                <a:spcPts val="12175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2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68419" y="1028700"/>
            <a:ext cx="8606914" cy="8229600"/>
          </a:xfrm>
          <a:custGeom>
            <a:avLst/>
            <a:gdLst/>
            <a:ahLst/>
            <a:cxnLst/>
            <a:rect r="r" b="b" t="t" l="l"/>
            <a:pathLst>
              <a:path h="8229600" w="8606914">
                <a:moveTo>
                  <a:pt x="0" y="0"/>
                </a:moveTo>
                <a:lnTo>
                  <a:pt x="8606915" y="0"/>
                </a:lnTo>
                <a:lnTo>
                  <a:pt x="860691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7544" t="0" r="-2789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2645" y="553644"/>
            <a:ext cx="8404446" cy="886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77"/>
              </a:lnSpc>
              <a:spcBef>
                <a:spcPct val="0"/>
              </a:spcBef>
            </a:pPr>
            <a:r>
              <a:rPr lang="en-US" b="true" sz="6198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Conclusion</a:t>
            </a:r>
          </a:p>
          <a:p>
            <a:pPr algn="l" marL="982057" indent="-491029" lvl="1">
              <a:lnSpc>
                <a:spcPts val="6368"/>
              </a:lnSpc>
              <a:spcBef>
                <a:spcPct val="0"/>
              </a:spcBef>
              <a:buAutoNum type="arabicPeriod" startAt="1"/>
            </a:pPr>
            <a:r>
              <a:rPr lang="en-US" b="true" sz="4548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Workflows = predictable, efficient</a:t>
            </a:r>
          </a:p>
          <a:p>
            <a:pPr algn="l" marL="982057" indent="-491029" lvl="1">
              <a:lnSpc>
                <a:spcPts val="6368"/>
              </a:lnSpc>
              <a:spcBef>
                <a:spcPct val="0"/>
              </a:spcBef>
              <a:buAutoNum type="arabicPeriod" startAt="1"/>
            </a:pPr>
            <a:r>
              <a:rPr lang="en-US" b="true" sz="4548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Agents = flexible, intelligent</a:t>
            </a:r>
          </a:p>
          <a:p>
            <a:pPr algn="l">
              <a:lnSpc>
                <a:spcPts val="8677"/>
              </a:lnSpc>
              <a:spcBef>
                <a:spcPct val="0"/>
              </a:spcBef>
            </a:pPr>
            <a:r>
              <a:rPr lang="en-US" b="true" sz="6198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Modern AI systems combine both:</a:t>
            </a:r>
          </a:p>
          <a:p>
            <a:pPr algn="l" marL="982057" indent="-491029" lvl="1">
              <a:lnSpc>
                <a:spcPts val="6368"/>
              </a:lnSpc>
              <a:spcBef>
                <a:spcPct val="0"/>
              </a:spcBef>
              <a:buAutoNum type="arabicPeriod" startAt="1"/>
            </a:pPr>
            <a:r>
              <a:rPr lang="en-US" b="true" sz="4548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Workflow for structure</a:t>
            </a:r>
          </a:p>
          <a:p>
            <a:pPr algn="l" marL="982057" indent="-491029" lvl="1">
              <a:lnSpc>
                <a:spcPts val="6368"/>
              </a:lnSpc>
              <a:spcBef>
                <a:spcPct val="0"/>
              </a:spcBef>
              <a:buAutoNum type="arabicPeriod" startAt="1"/>
            </a:pPr>
            <a:r>
              <a:rPr lang="en-US" b="true" sz="4548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 </a:t>
            </a:r>
            <a:r>
              <a:rPr lang="en-US" b="true" sz="4548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Agents for decision-making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DAHGLORJy2g</dc:identifier>
  <dcterms:modified xsi:type="dcterms:W3CDTF">2011-08-01T06:04:30Z</dcterms:modified>
  <cp:revision>1</cp:revision>
  <dc:title>Non Text Magic Studio Magic Design for Presentations L&amp;P</dc:title>
</cp:coreProperties>
</file>